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6858000" cx="12192000"/>
  <p:notesSz cx="6858000" cy="9144000"/>
  <p:embeddedFontLst>
    <p:embeddedFont>
      <p:font typeface="Helvetica Neue"/>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7" roundtripDataSignature="AMtx7mjj5FeznqK+HyAqvPRCQgifeuM0g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A666504-75EB-4913-86AC-4C245FBB91B0}">
  <a:tblStyle styleId="{1A666504-75EB-4913-86AC-4C245FBB91B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HelveticaNeue-regular.fnt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font" Target="fonts/HelveticaNeue-italic.fntdata"/><Relationship Id="rId12" Type="http://schemas.openxmlformats.org/officeDocument/2006/relationships/slide" Target="slides/slide7.xml"/><Relationship Id="rId34" Type="http://schemas.openxmlformats.org/officeDocument/2006/relationships/font" Target="fonts/HelveticaNeue-bold.fntdata"/><Relationship Id="rId15" Type="http://schemas.openxmlformats.org/officeDocument/2006/relationships/slide" Target="slides/slide10.xml"/><Relationship Id="rId37" Type="http://customschemas.google.com/relationships/presentationmetadata" Target="metadata"/><Relationship Id="rId14" Type="http://schemas.openxmlformats.org/officeDocument/2006/relationships/slide" Target="slides/slide9.xml"/><Relationship Id="rId36" Type="http://schemas.openxmlformats.org/officeDocument/2006/relationships/font" Target="fonts/HelveticaNeue-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 · 0:00–0:30 · 30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Title and introduction: Charley Pfaff, GrrCON. Reconstructing a 1992 Virus to Understand Modern Malware. Give a brief introduction, then move directly to the DOS demonstration on the next slide.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VISUAL: AI-generated conceptual illustration. It does not depict the actual source or lab evidence.</a:t>
            </a:r>
            <a:endParaRP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 name="Google Shape;2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2 · 0:30–3:30 · 180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OPENING DEMO: 3:00. Begin directly with the demonstration, before explaining the project. Stage a person working at a DOS machine or emulator: 0:00–0:45 ordinary directory navigation and routine work. 0:45–1:15 show mounting or attaching the prepared disposable lab drive in the actual VM or emulator interface. Mounting is environment-specific, not a universal DOS command. 1:15–2:15 show the FIND.COM utility being executed on that lab drive. 2:15–2:45 hold on its real output and observed file changes. 2:45–3:00 transition: What did it take to reconstruct this from a magazine? Use the actual tool name and actual result from a prepared recording or live isolated demonstration. The user selected FIND.COM. A recording has not been supplied, so this slide is a demo cue rather than embedded footage. Do not invent a successful outcome. If using the file-finding utility, distinguish the supplied first-match build from the intended all-files listing. Speaker introduction can be one sentence during the transition: Charley Pfaff, Reconstructing a 1992 Virus to Understand Modern Malware, GrrCON.</a:t>
            </a:r>
            <a:endParaRPr/>
          </a:p>
        </p:txBody>
      </p:sp>
      <p:sp>
        <p:nvSpPr>
          <p:cNvPr id="23" name="Google Shape;23;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 name="Google Shape;3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3 · 3:30–3:40 · 10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Brief reaction beat after the opening DOS demonstration. Let the Cousin!! joke land, then transition to Why do this? Visual: AI-generated fan-art meme depicting Richie from The Bear, not an actual frame from the show.</a:t>
            </a:r>
            <a:endParaRPr/>
          </a:p>
        </p:txBody>
      </p:sp>
      <p:sp>
        <p:nvSpPr>
          <p:cNvPr id="32" name="Google Shape;3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 name="Google Shape;3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4 · 3:40–4:45 · 65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Explain your motives after the audience has seen the demo. Historical COM infectors supply the context: Vienna searched for another file when an infected program ran, and Cascade is known for infecting COM files and its falling-letter display in some versions. These examples are historical context, not identifications of your sample. Your starting point was a publicly printed listing from 2600, Spring 1992, rather than a newly invented design. Ask how difficult it would be to turn the page into working, understood code. Close with your own playful line: History repeats itself. I wanted to single-step it. This is original talk copy, not a quotation attributed to a historian.</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F-Secure, Vienna: https://www.f-secure.com/v-descs/vienna</a:t>
            </a:r>
            <a:endParaRPr/>
          </a:p>
          <a:p>
            <a:pPr indent="0" lvl="0" marL="0" rtl="0" algn="l">
              <a:spcBef>
                <a:spcPts val="0"/>
              </a:spcBef>
              <a:spcAft>
                <a:spcPts val="0"/>
              </a:spcAft>
              <a:buNone/>
            </a:pPr>
            <a:r>
              <a:rPr lang="en-US" sz="1200"/>
              <a:t>F-Secure, Cascade: https://www.f-secure.com/v-descs/cascade</a:t>
            </a:r>
            <a:endParaRPr/>
          </a:p>
          <a:p>
            <a:pPr indent="0" lvl="0" marL="0" rtl="0" algn="l">
              <a:spcBef>
                <a:spcPts val="0"/>
              </a:spcBef>
              <a:spcAft>
                <a:spcPts val="0"/>
              </a:spcAft>
              <a:buNone/>
            </a:pPr>
            <a:r>
              <a:rPr lang="en-US" sz="1200"/>
              <a:t>Source photographs: 2600, Spring 1992, pages 5–6.</a:t>
            </a:r>
            <a:endParaRPr/>
          </a:p>
        </p:txBody>
      </p:sp>
      <p:sp>
        <p:nvSpPr>
          <p:cNvPr id="38" name="Google Shape;3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 name="Google Shape;45;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5 · 4:45–5:30 · 45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Set expectations for the takeaways Charley intends to provide: historical context, a DOS 6.22 environment with networking enabled, assembly files for lab testing, and the variant disinfector source. These are planned audience resources, not a claim that this deck embeds or distributes them. Provide the actual resource location when the release is ready. The environment and networking setup have not been verified during deck preparation. Networking capability is useful for lab file transfer; the malware demonstration belongs in an isolated setup. Describe the disinfector as the research prototype discussed later, including its candidate-detection and I/O-validation limitations, rather than a general-purpose antivirus.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Charley Pfaff: requested audience takeaways.</a:t>
            </a:r>
            <a:endParaRPr/>
          </a:p>
        </p:txBody>
      </p:sp>
      <p:sp>
        <p:nvSpPr>
          <p:cNvPr id="46" name="Google Shape;46;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 name="Google Shape;52;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6 · 5:30–6:45 · 75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Transition from the motivation to the actual beginning: photographs of the printed listing. The original source pages are shown here. Describe the first conversion from image to transcribed assembly, then the NASM conversion questions that followed. The pages identify Spring 1992, pages 5–6. A printed, public starting point gives a reference against which to check the transcription. It does not mean every later local variant is identical to the publication. The next slides follow that reconstruction work.</a:t>
            </a:r>
            <a:endParaRPr/>
          </a:p>
        </p:txBody>
      </p:sp>
      <p:sp>
        <p:nvSpPr>
          <p:cNvPr id="53" name="Google Shape;53;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 name="Google Shape;61;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7 · 6:45–7:45 · 60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Describe the working setup needed for the reconstruction. A hypervisor with virtual floppy support provides a way to attach disk images to the DOS guest. DOS supplies the execution environment. NASM and MASM are assemblers: explain the syntax differences that made conversion part of the project, without claiming that every saved version was built with both. DOS DEBUG provides the memory and instruction inspection shown later in the talk. Explain your actual file-transfer workflow between the host and the guest, such as preparing and attaching floppy images. Keep the workflow concrete: editing source, assembling, transferring the build and inspecting it in DOS. The exact transfer utility and hypervisor configuration are not specified here.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Charley Pfaff: requested lab-tool list and supplied DOS DEBUG screenshots.</a:t>
            </a:r>
            <a:endParaRPr/>
          </a:p>
        </p:txBody>
      </p:sp>
      <p:sp>
        <p:nvSpPr>
          <p:cNvPr id="62" name="Google Shape;62;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8 · 7:45–9:00 · 75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The source photograph contains 0BBh,01,00 with a mov bx,1 comment. An early transcription changed 0BBh to 08Bh. Use this as a concrete lesson in checking an AI-assisted transcription against the source. A separate harmless instruction check for this presentation confirmed mov bx,1 emits BB 01 00. Do not claim this single discrepancy explains every runtime issue.</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9 · 9:00–10:15 · 75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The conversations covered individual syntax conversions. NASM accepts both hexadecimal suffix and prefix notation. Syntax equivalence differs from substituting an instruction: mov cx,0 and xor cx,cx use different encodings, and xor changes flags. These isolated checks explain why plausible advice still needed verification. No full malware build is demonstrated here.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https://www.nasm.us/doc/nasm03.html#section-3.4.1</a:t>
            </a:r>
            <a:endParaRPr/>
          </a:p>
        </p:txBody>
      </p:sp>
      <p:sp>
        <p:nvSpPr>
          <p:cNvPr id="82" name="Google Shape;82;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10 · 10:15–11:30 · 75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Point out the actual dump, the address column and visible strings. Explain the distinction between the source text you intended and the bytes in memory. Avoid reading out the entire dump or turning it into a construction recipe. A memory dump alone does not establish successful infection or cleanup.</a:t>
            </a:r>
            <a:endParaRPr/>
          </a:p>
        </p:txBody>
      </p:sp>
      <p:sp>
        <p:nvSpPr>
          <p:cNvPr id="93" name="Google Shape;93;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0" name="Google Shape;100;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11 · 11:30–13:00 · 90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The strings Found a file, gen debug and open was successful appear in 1992c.asm, matching the January 19 screenshot. This connects the capture to the listing-port development work. The source contains instrumentation and variant changes. These messages indicate reached program stages, not independent proof of every DOS operation or successful infection.</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Static source review: Charley Pfaff, ~/code/1992/, September 2026. Sources are distinct from historical run evidence.</a:t>
            </a:r>
            <a:endParaRPr/>
          </a:p>
        </p:txBody>
      </p:sp>
      <p:sp>
        <p:nvSpPr>
          <p:cNvPr id="101" name="Google Shape;101;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12 · 13:00–14:15 · 75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v3.asm defines the visible two-character markers. FF precedes FindFirst, FO marks the found-file/open path, FH follows a successful open, RD precedes reading, IN enters the modification path, WJ/WO/WV mark intended writes, CL precedes close, NX precedes FindNext, RE marks entry restoration and EX marks exit or return to host. GB follows segment setup but has no explicit expanded name. The macro preserves AX and DX. Messages printed before writes do not establish that writes completed. Repetition in a screenshot alone does not identify a defect or prove a loop diagnosis.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Static source review: Charley Pfaff, ~/code/1992/, September 2026. Sources are distinct from historical run evidence.</a:t>
            </a:r>
            <a:endParaRPr/>
          </a:p>
        </p:txBody>
      </p:sp>
      <p:sp>
        <p:nvSpPr>
          <p:cNvPr id="109" name="Google Shape;109;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6" name="Google Shape;116;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13 · 14:15–15:15 · 60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Static reading of v3.asm shows an appending .COM file infector design with saved entry bytes and host return. Explain these as source behavior and intent, not fresh runtime validation. Returning the host entry in memory does not remove the appended content from disk. This distinction motivates the separate cleaner. Do not equate the later variant with every detail of the 1992 printed source.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Static source review: Charley Pfaff, ~/code/1992/, September 2026. Sources are distinct from historical run evidence.</a:t>
            </a:r>
            <a:endParaRPr/>
          </a:p>
        </p:txBody>
      </p:sp>
      <p:sp>
        <p:nvSpPr>
          <p:cNvPr id="117" name="Google Shape;117;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8" name="Google Shape;128;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14 · 15:15–16:45 · 90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The upper diagram shows v3.asm: the host body stays in place, entry bytes are saved at the end, appended code receives control from the entry JMP, and saved entry bytes are restored in memory before host return. The lower payload section belongs to different files: 1992c.asm and cc.asm attempt to create A.TXT with normal attributes, close it and exit to DOS. payload.asm is the standalone test. No data write occurs in this payload, so successful creation leaves an empty file. If that filename already exists, successful creation truncates it. Do not describe this as an extra v3.asm stage: that source lacks this payload. These are static source findings, not newly verified run results. Host return does not clean the disk file.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Static source review: ~/code/1992/v3.asm, 1992c.asm, cc.asm, payload.asm and disinfect.asm. AI-generated explanatory graphic.</a:t>
            </a:r>
            <a:endParaRPr/>
          </a:p>
        </p:txBody>
      </p:sp>
      <p:sp>
        <p:nvSpPr>
          <p:cNvPr id="129" name="Google Shape;129;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15 · 16:45–18:00 · 75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The capture dated January 22 shows zero vendors flagging this exact submitted object. Its name ends in .com, but VirusTotal identifies it as gzip. The capture does not explain whether compression was intentional, what an extracted object would contain, or whether engines analyzed it as an executable. This result cannot by itself establish a runtime protection bypass. The displayed “9 days ago” is relative analysis age, not the capture date. SHA-256: cccb27478c595c14c300916f735554624ee34f2e3580bf7c7860035f49cc8fcf.</a:t>
            </a:r>
            <a:endParaRPr/>
          </a:p>
        </p:txBody>
      </p:sp>
      <p:sp>
        <p:nvSpPr>
          <p:cNvPr id="135" name="Google Shape;135;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2" name="Google Shape;142;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16 · 18:00–19:15 · 75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This is a different hash, size and file type. Several vendor labels contain Mark II, but labels alone do not establish the historical identity or relationship between the two samples. Explain why this second result belongs beside the zero result. Do not frame it as a controlled before-and-after test. SHA-256: ef78f653f95b87cd7ed2eb5124a0fd1520ecac132c1eacf22e6b7a3efee263e3.</a:t>
            </a:r>
            <a:endParaRPr/>
          </a:p>
        </p:txBody>
      </p:sp>
      <p:sp>
        <p:nvSpPr>
          <p:cNvPr id="143" name="Google Shape;143;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0" name="Google Shape;150;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17 · 19:15–20:15 · 60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Compare the actual metadata. Two screenshots of the zero-detection report refer to the same hash and are not independent tests. The causal explanation for the differing results remains unresolved. A useful follow-up is to establish file provenance and intended formats from the original artifacts before interpreting detector behavior. The loose files inspected in ~/code/1992/ did not match either screenshot SHA-256. The VM archive was not unpacked. The gzip question therefore remains unresolved.</a:t>
            </a:r>
            <a:endParaRPr/>
          </a:p>
        </p:txBody>
      </p:sp>
      <p:sp>
        <p:nvSpPr>
          <p:cNvPr id="151" name="Google Shape;151;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8" name="Google Shape;158;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18 · 20:15–20:45 · 30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The defensible observation is zero reported detections for a particular submitted object at a particular analysis. The next questions are what bytes were submitted, what format was recognized and what actually ran in the lab. This turns a surprising result into a lesson about evidence. Avoid broad claims that modern antivirus cannot detect a 1992 virus.</a:t>
            </a:r>
            <a:endParaRPr/>
          </a:p>
        </p:txBody>
      </p:sp>
      <p:sp>
        <p:nvSpPr>
          <p:cNvPr id="159" name="Google Shape;159;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19 · 20:45–21:45 · 60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Connect the historical extension to the later Windows command environment. The supplied list includes chcp.com, diskcomp.com, diskcopy.com, format.com, mode.com, more.com and tree.com, reported in Windows 7 System32. Explain their roles by the groups shown. Microsoft command documentation supports the command functions and its archived reference includes Windows 7. This is not a fresh-install inventory independently tested across editions. The crucial distinction is that an extension does not determine executable format: Windows PE executables can carry .com filenames. Do not claim the DOS flat-binary entry-patching method works on these Windows utilities. Microsoft documents that 64-bit Windows lacks NTVDM, so a shared filename extension does not establish 16-bit execution support. Relevance to defense: identify the actual format and execution environment before interpreting a filename or detection result.</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User-supplied Windows 7 file list.</a:t>
            </a:r>
            <a:endParaRPr/>
          </a:p>
          <a:p>
            <a:pPr indent="0" lvl="0" marL="0" rtl="0" algn="l">
              <a:spcBef>
                <a:spcPts val="0"/>
              </a:spcBef>
              <a:spcAft>
                <a:spcPts val="0"/>
              </a:spcAft>
              <a:buNone/>
            </a:pPr>
            <a:r>
              <a:rPr lang="en-US" sz="1200"/>
              <a:t>Microsoft Windows command reference (includes Windows 7): https://learn.microsoft.com/en-us/previous-versions/windows/it-pro/windows-server-2012-r2-and-2012/cc772390(v=ws.11)</a:t>
            </a:r>
            <a:endParaRPr/>
          </a:p>
          <a:p>
            <a:pPr indent="0" lvl="0" marL="0" rtl="0" algn="l">
              <a:spcBef>
                <a:spcPts val="0"/>
              </a:spcBef>
              <a:spcAft>
                <a:spcPts val="0"/>
              </a:spcAft>
              <a:buNone/>
            </a:pPr>
            <a:r>
              <a:rPr lang="en-US" sz="1200"/>
              <a:t>Microsoft command reference: https://learn.microsoft.com/en-us/windows-server/administration/windows-commands/windows-commands</a:t>
            </a:r>
            <a:endParaRPr/>
          </a:p>
          <a:p>
            <a:pPr indent="0" lvl="0" marL="0" rtl="0" algn="l">
              <a:spcBef>
                <a:spcPts val="0"/>
              </a:spcBef>
              <a:spcAft>
                <a:spcPts val="0"/>
              </a:spcAft>
              <a:buNone/>
            </a:pPr>
            <a:r>
              <a:rPr lang="en-US" sz="1200"/>
              <a:t>Raymond Chen: https://devblogs.microsoft.com/oldnewthing/20080324-00/?p=23033</a:t>
            </a:r>
            <a:endParaRPr/>
          </a:p>
          <a:p>
            <a:pPr indent="0" lvl="0" marL="0" rtl="0" algn="l">
              <a:spcBef>
                <a:spcPts val="0"/>
              </a:spcBef>
              <a:spcAft>
                <a:spcPts val="0"/>
              </a:spcAft>
              <a:buNone/>
            </a:pPr>
            <a:r>
              <a:rPr lang="en-US" sz="1200"/>
              <a:t>Microsoft NTVDM: https://learn.microsoft.com/en-us/windows/compatibility/ntvdm-and-16-bit-app-support</a:t>
            </a:r>
            <a:endParaRPr/>
          </a:p>
          <a:p>
            <a:pPr indent="0" lvl="0" marL="0" rtl="0" algn="l">
              <a:spcBef>
                <a:spcPts val="0"/>
              </a:spcBef>
              <a:spcAft>
                <a:spcPts val="0"/>
              </a:spcAft>
              <a:buNone/>
            </a:pPr>
            <a:r>
              <a:rPr lang="en-US" sz="1200"/>
              <a:t>AI-generated conceptual infographic, not an operating-system screenshot.</a:t>
            </a:r>
            <a:endParaRPr/>
          </a:p>
        </p:txBody>
      </p:sp>
      <p:sp>
        <p:nvSpPr>
          <p:cNvPr id="167" name="Google Shape;167;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20 · 21:45–23:00 · 75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disinfect.asm provides concrete source evidence for the defensive tool. It enumerates .COM files, opens candidates, reads the entry, selects files beginning with E9, obtains saved entry bytes using the layout it assumes, writes them back and truncates the file. It then prints CLEANED and the filename. The intended layout corresponds to the later variant, but selection and I/O validation are too weak to establish safe general-purpose disinfection. No cleaner was executed during this review.</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Static source review: Charley Pfaff, ~/code/1992/, September 2026. Sources are distinct from historical run evidence.</a:t>
            </a:r>
            <a:endParaRPr/>
          </a:p>
        </p:txBody>
      </p:sp>
      <p:sp>
        <p:nvSpPr>
          <p:cNvPr id="173" name="Google Shape;173;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21 · 23:00–24:00 · 60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The source resolves the earlier ambiguity: these markers are in v3.asm, while disinfect.asm prints CLEANED followed by a filename. The short trace is consistent with a close/restore/exit path in an instrumented variant, not evidence of the cleaner running. This capture omits NX, which current v3.asm prints after close. That difference prevents assigning it to an exact build from the screenshot alone. RE denotes in-memory entry restoration. It does not establish removal of infection from disk.</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Static source review: Charley Pfaff, ~/code/1992/, September 2026. Sources are distinct from historical run evidence.</a:t>
            </a:r>
            <a:endParaRPr/>
          </a:p>
        </p:txBody>
      </p:sp>
      <p:sp>
        <p:nvSpPr>
          <p:cNvPr id="181" name="Google Shape;181;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22 · 24:00–25:30 · 90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The cleaner checks only the initial E9 opcode before interpreting the file according to its expected layout. It does not establish a variant-specific signature, validate the recovered extent against the actual file size, or compare the appended region against a known variant. Several seek and write results are unchecked, and read counts are not verified. Therefore CLEANED is a status message rather than proof of verified recovery. Discuss this candidly as the defensive engineering lesson, without implying the prototype is a production antivirus.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Static source review: Charley Pfaff, ~/code/1992/, September 2026. Sources are distinct from historical run evidence.</a:t>
            </a:r>
            <a:endParaRPr/>
          </a:p>
        </p:txBody>
      </p:sp>
      <p:sp>
        <p:nvSpPr>
          <p:cNvPr id="189" name="Google Shape;189;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23 · 25:30–26:50 · 80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The source makes these validation needs concrete. Keep a known-good original and require byte equality after restoration. Include legitimate files beginning with E9, short or truncated files, unknown variants and failed I/O conditions. These are proposed controls, not completed tests. The supplied folder has backups, but their names do not prove a controlled before/after relationship. No matched restoration run was established by this static review.</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Static source review: Charley Pfaff, ~/code/1992/, September 2026. Sources are distinct from historical run evidence.</a:t>
            </a:r>
            <a:endParaRPr/>
          </a:p>
        </p:txBody>
      </p:sp>
      <p:sp>
        <p:nvSpPr>
          <p:cNvPr id="200" name="Google Shape;200;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24 · 26:50–27:00 · 10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Brief reaction beat after recovery validation. Caption requested by Charley: Mangia baby!! Image is AI-generated fan-art inspired by Richie presenting Original Beef sandwiches in The Bear season 4 episode 3, not an authentic episode still. Pause, then continue to modern parallels.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Scene context: https://www.subtitlecat.com/subs/1125/The%20Bear%20s04e03.eng.html</a:t>
            </a:r>
            <a:endParaRPr/>
          </a:p>
        </p:txBody>
      </p:sp>
      <p:sp>
        <p:nvSpPr>
          <p:cNvPr id="213" name="Google Shape;213;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25 · 27:00–28:30 · 90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Connect principles rather than claiming this DOS sample executes on modern systems. A changed entry path raises provenance questions. A marker needs context. Normal-looking host behavior does not explain everything that happened earlier. On Windows, Sysmon can supply process creation and selected file or registry events, but it is not a byte-level history of DOS guest activity. The relevant observation point must match the environment.</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SOURCES</a:t>
            </a:r>
            <a:endParaRPr/>
          </a:p>
          <a:p>
            <a:pPr indent="0" lvl="0" marL="0" rtl="0" algn="l">
              <a:spcBef>
                <a:spcPts val="0"/>
              </a:spcBef>
              <a:spcAft>
                <a:spcPts val="0"/>
              </a:spcAft>
              <a:buNone/>
            </a:pPr>
            <a:r>
              <a:rPr lang="en-US" sz="1200"/>
              <a:t>https://learn.microsoft.com/en-us/sysinternals/downloads/sysmon</a:t>
            </a:r>
            <a:endParaRPr/>
          </a:p>
        </p:txBody>
      </p:sp>
      <p:sp>
        <p:nvSpPr>
          <p:cNvPr id="219" name="Google Shape;219;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26 · 28:30–29:30 · 60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Close with the concrete work: source photographs exposed transcription errors, debugger output made intermediate states visible, and writing the cleaner forced the recovery question. Mention the role of the earlier conversations as an aid you tested against evidence. The original CFP asked whether old ideas still matter. Your answer is that execution changes, detection assumptions and restoration all remain questions defenders must resolve.</a:t>
            </a:r>
            <a:endParaRPr/>
          </a:p>
        </p:txBody>
      </p:sp>
      <p:sp>
        <p:nvSpPr>
          <p:cNvPr id="226" name="Google Shape;22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7" name="Google Shape;237;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SLIDE 27 · 29:30–30:00 · 30 seconds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End on the work you actually undertook, including the detector and cleaner you reported. Invite questions about reconstruction and defensive verification. Do not summarize the VirusTotal result as universal evasion.</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VISUAL: AI-generated conceptual illustration. It does not depict the actual source or lab evidence.</a:t>
            </a:r>
            <a:endParaRPr/>
          </a:p>
        </p:txBody>
      </p:sp>
      <p:sp>
        <p:nvSpPr>
          <p:cNvPr id="238" name="Google Shape;238;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jpg"/><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5" name="Shape 15"/>
        <p:cNvGrpSpPr/>
        <p:nvPr/>
      </p:nvGrpSpPr>
      <p:grpSpPr>
        <a:xfrm>
          <a:off x="0" y="0"/>
          <a:ext cx="0" cy="0"/>
          <a:chOff x="0" y="0"/>
          <a:chExt cx="0" cy="0"/>
        </a:xfrm>
      </p:grpSpPr>
      <p:pic>
        <p:nvPicPr>
          <p:cNvPr id="16" name="Google Shape;16;p1"/>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
        <p:nvSpPr>
          <p:cNvPr id="17" name="Google Shape;17;p1"/>
          <p:cNvSpPr/>
          <p:nvPr/>
        </p:nvSpPr>
        <p:spPr>
          <a:xfrm>
            <a:off x="609600" y="1333500"/>
            <a:ext cx="7191375" cy="2857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4650">
                <a:solidFill>
                  <a:srgbClr val="F0F0E6"/>
                </a:solidFill>
                <a:latin typeface="Helvetica Neue"/>
                <a:ea typeface="Helvetica Neue"/>
                <a:cs typeface="Helvetica Neue"/>
                <a:sym typeface="Helvetica Neue"/>
              </a:rPr>
              <a:t>Reconstructing a 1992 Virus</a:t>
            </a:r>
            <a:endParaRPr/>
          </a:p>
          <a:p>
            <a:pPr indent="0" lvl="0" marL="0" marR="0" rtl="0" algn="l">
              <a:spcBef>
                <a:spcPts val="0"/>
              </a:spcBef>
              <a:spcAft>
                <a:spcPts val="0"/>
              </a:spcAft>
              <a:buNone/>
            </a:pPr>
            <a:r>
              <a:rPr b="1" lang="en-US" sz="4650">
                <a:solidFill>
                  <a:srgbClr val="F0F0E6"/>
                </a:solidFill>
                <a:latin typeface="Helvetica Neue"/>
                <a:ea typeface="Helvetica Neue"/>
                <a:cs typeface="Helvetica Neue"/>
                <a:sym typeface="Helvetica Neue"/>
              </a:rPr>
              <a:t>to Understand Modern Malware</a:t>
            </a:r>
            <a:endParaRPr/>
          </a:p>
        </p:txBody>
      </p:sp>
      <p:sp>
        <p:nvSpPr>
          <p:cNvPr id="18" name="Google Shape;18;p1"/>
          <p:cNvSpPr/>
          <p:nvPr/>
        </p:nvSpPr>
        <p:spPr>
          <a:xfrm>
            <a:off x="647700" y="4933950"/>
            <a:ext cx="6191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250">
                <a:solidFill>
                  <a:srgbClr val="CAFF45"/>
                </a:solidFill>
                <a:latin typeface="Helvetica Neue"/>
                <a:ea typeface="Helvetica Neue"/>
                <a:cs typeface="Helvetica Neue"/>
                <a:sym typeface="Helvetica Neue"/>
              </a:rPr>
              <a:t>Charley Pfaff</a:t>
            </a:r>
            <a:endParaRPr/>
          </a:p>
        </p:txBody>
      </p:sp>
      <p:sp>
        <p:nvSpPr>
          <p:cNvPr id="19" name="Google Shape;19;p1"/>
          <p:cNvSpPr/>
          <p:nvPr/>
        </p:nvSpPr>
        <p:spPr>
          <a:xfrm>
            <a:off x="647700" y="5524500"/>
            <a:ext cx="4762500" cy="428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725">
                <a:solidFill>
                  <a:srgbClr val="A7B09D"/>
                </a:solidFill>
                <a:latin typeface="Helvetica Neue"/>
                <a:ea typeface="Helvetica Neue"/>
                <a:cs typeface="Helvetica Neue"/>
                <a:sym typeface="Helvetica Neue"/>
              </a:rPr>
              <a:t>GrrCON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24" name="Shape 24"/>
        <p:cNvGrpSpPr/>
        <p:nvPr/>
      </p:nvGrpSpPr>
      <p:grpSpPr>
        <a:xfrm>
          <a:off x="0" y="0"/>
          <a:ext cx="0" cy="0"/>
          <a:chOff x="0" y="0"/>
          <a:chExt cx="0" cy="0"/>
        </a:xfrm>
      </p:grpSpPr>
      <p:sp>
        <p:nvSpPr>
          <p:cNvPr id="25" name="Google Shape;25;p2"/>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A day at the DOS prompt</a:t>
            </a:r>
            <a:endParaRPr/>
          </a:p>
        </p:txBody>
      </p:sp>
      <p:sp>
        <p:nvSpPr>
          <p:cNvPr id="26" name="Google Shape;26;p2"/>
          <p:cNvSpPr/>
          <p:nvPr/>
        </p:nvSpPr>
        <p:spPr>
          <a:xfrm>
            <a:off x="609600" y="2143125"/>
            <a:ext cx="6810375" cy="1619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5400">
                <a:solidFill>
                  <a:srgbClr val="CAFF45"/>
                </a:solidFill>
                <a:latin typeface="Helvetica Neue"/>
                <a:ea typeface="Helvetica Neue"/>
                <a:cs typeface="Helvetica Neue"/>
                <a:sym typeface="Helvetica Neue"/>
              </a:rPr>
              <a:t>DOS. A drive.</a:t>
            </a:r>
            <a:endParaRPr/>
          </a:p>
          <a:p>
            <a:pPr indent="0" lvl="0" marL="0" marR="0" rtl="0" algn="l">
              <a:spcBef>
                <a:spcPts val="0"/>
              </a:spcBef>
              <a:spcAft>
                <a:spcPts val="0"/>
              </a:spcAft>
              <a:buNone/>
            </a:pPr>
            <a:r>
              <a:rPr b="1" lang="en-US" sz="5400">
                <a:solidFill>
                  <a:srgbClr val="CAFF45"/>
                </a:solidFill>
                <a:latin typeface="Helvetica Neue"/>
                <a:ea typeface="Helvetica Neue"/>
                <a:cs typeface="Helvetica Neue"/>
                <a:sym typeface="Helvetica Neue"/>
              </a:rPr>
              <a:t>FIND.COM.</a:t>
            </a:r>
            <a:endParaRPr/>
          </a:p>
        </p:txBody>
      </p:sp>
      <p:sp>
        <p:nvSpPr>
          <p:cNvPr id="27" name="Google Shape;27;p2"/>
          <p:cNvSpPr/>
          <p:nvPr/>
        </p:nvSpPr>
        <p:spPr>
          <a:xfrm>
            <a:off x="7715250" y="2228850"/>
            <a:ext cx="4000500" cy="2667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250">
                <a:solidFill>
                  <a:srgbClr val="F0F0E6"/>
                </a:solidFill>
                <a:latin typeface="Helvetica Neue"/>
                <a:ea typeface="Helvetica Neue"/>
                <a:cs typeface="Helvetica Neue"/>
                <a:sym typeface="Helvetica Neue"/>
              </a:rPr>
              <a:t>Work in DOS</a:t>
            </a:r>
            <a:endParaRPr/>
          </a:p>
          <a:p>
            <a:pPr indent="0" lvl="0" marL="0" marR="0" rtl="0" algn="l">
              <a:spcBef>
                <a:spcPts val="0"/>
              </a:spcBef>
              <a:spcAft>
                <a:spcPts val="0"/>
              </a:spcAft>
              <a:buNone/>
            </a:pPr>
            <a:r>
              <a:rPr b="0" lang="en-US" sz="2250">
                <a:solidFill>
                  <a:srgbClr val="F0F0E6"/>
                </a:solidFill>
                <a:latin typeface="Helvetica Neue"/>
                <a:ea typeface="Helvetica Neue"/>
                <a:cs typeface="Helvetica Neue"/>
                <a:sym typeface="Helvetica Neue"/>
              </a:rPr>
              <a:t>Mount the lab drive</a:t>
            </a:r>
            <a:endParaRPr/>
          </a:p>
          <a:p>
            <a:pPr indent="0" lvl="0" marL="0" marR="0" rtl="0" algn="l">
              <a:spcBef>
                <a:spcPts val="0"/>
              </a:spcBef>
              <a:spcAft>
                <a:spcPts val="0"/>
              </a:spcAft>
              <a:buNone/>
            </a:pPr>
            <a:r>
              <a:rPr b="0" lang="en-US" sz="2250">
                <a:solidFill>
                  <a:srgbClr val="F0F0E6"/>
                </a:solidFill>
                <a:latin typeface="Helvetica Neue"/>
                <a:ea typeface="Helvetica Neue"/>
                <a:cs typeface="Helvetica Neue"/>
                <a:sym typeface="Helvetica Neue"/>
              </a:rPr>
              <a:t>Run FIND.COM</a:t>
            </a:r>
            <a:endParaRPr/>
          </a:p>
          <a:p>
            <a:pPr indent="0" lvl="0" marL="0" marR="0" rtl="0" algn="l">
              <a:spcBef>
                <a:spcPts val="0"/>
              </a:spcBef>
              <a:spcAft>
                <a:spcPts val="0"/>
              </a:spcAft>
              <a:buNone/>
            </a:pPr>
            <a:r>
              <a:rPr b="0" lang="en-US" sz="2250">
                <a:solidFill>
                  <a:srgbClr val="F0F0E6"/>
                </a:solidFill>
                <a:latin typeface="Helvetica Neue"/>
                <a:ea typeface="Helvetica Neue"/>
                <a:cs typeface="Helvetica Neue"/>
                <a:sym typeface="Helvetica Neue"/>
              </a:rPr>
              <a:t>Observe the result</a:t>
            </a:r>
            <a:endParaRPr/>
          </a:p>
        </p:txBody>
      </p:sp>
      <p:sp>
        <p:nvSpPr>
          <p:cNvPr id="28" name="Google Shape;28;p2"/>
          <p:cNvSpPr/>
          <p:nvPr/>
        </p:nvSpPr>
        <p:spPr>
          <a:xfrm>
            <a:off x="609600" y="5943600"/>
            <a:ext cx="10953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75">
                <a:solidFill>
                  <a:srgbClr val="A7B09D"/>
                </a:solidFill>
                <a:latin typeface="Helvetica Neue"/>
                <a:ea typeface="Helvetica Neue"/>
                <a:cs typeface="Helvetica Neue"/>
                <a:sym typeface="Helvetica Neue"/>
              </a:rPr>
              <a:t>Charley Pfaff / GrrCON / Opening demo</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33" name="Shape 33"/>
        <p:cNvGrpSpPr/>
        <p:nvPr/>
      </p:nvGrpSpPr>
      <p:grpSpPr>
        <a:xfrm>
          <a:off x="0" y="0"/>
          <a:ext cx="0" cy="0"/>
          <a:chOff x="0" y="0"/>
          <a:chExt cx="0" cy="0"/>
        </a:xfrm>
      </p:grpSpPr>
      <p:pic>
        <p:nvPicPr>
          <p:cNvPr id="34" name="Google Shape;34;p3"/>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39" name="Shape 39"/>
        <p:cNvGrpSpPr/>
        <p:nvPr/>
      </p:nvGrpSpPr>
      <p:grpSpPr>
        <a:xfrm>
          <a:off x="0" y="0"/>
          <a:ext cx="0" cy="0"/>
          <a:chOff x="0" y="0"/>
          <a:chExt cx="0" cy="0"/>
        </a:xfrm>
      </p:grpSpPr>
      <p:sp>
        <p:nvSpPr>
          <p:cNvPr id="40" name="Google Shape;40;p4"/>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Why do this?</a:t>
            </a:r>
            <a:endParaRPr/>
          </a:p>
        </p:txBody>
      </p:sp>
      <p:sp>
        <p:nvSpPr>
          <p:cNvPr id="41" name="Google Shape;41;p4"/>
          <p:cNvSpPr/>
          <p:nvPr/>
        </p:nvSpPr>
        <p:spPr>
          <a:xfrm>
            <a:off x="609600" y="1743075"/>
            <a:ext cx="10972800" cy="3905250"/>
          </a:xfrm>
          <a:prstGeom prst="rect">
            <a:avLst/>
          </a:prstGeom>
          <a:noFill/>
          <a:ln>
            <a:noFill/>
          </a:ln>
        </p:spPr>
        <p:txBody>
          <a:bodyPr anchorCtr="0" anchor="t" bIns="45700" lIns="91425" spcFirstLastPara="1" rIns="91425" wrap="square" tIns="45700">
            <a:noAutofit/>
          </a:bodyPr>
          <a:lstStyle/>
          <a:p>
            <a:pPr indent="-190500" lvl="0" marL="304800" marR="0" rtl="0" algn="l">
              <a:spcBef>
                <a:spcPts val="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What happened back then? Vienna and Cascade infected .COM files.</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How hard would rebuilding one really be? Shout out to the OG</a:t>
            </a:r>
            <a:r>
              <a:rPr lang="en-US" sz="2250">
                <a:solidFill>
                  <a:srgbClr val="F0F0E6"/>
                </a:solidFill>
                <a:latin typeface="Helvetica Neue"/>
                <a:ea typeface="Helvetica Neue"/>
                <a:cs typeface="Helvetica Neue"/>
                <a:sym typeface="Helvetica Neue"/>
              </a:rPr>
              <a:t>’s</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Start with a known public sample: the 1992 printed listing.</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Learn from the past by inspecting what the code actually does.</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For fun</a:t>
            </a:r>
            <a:r>
              <a:rPr lang="en-US" sz="2250">
                <a:solidFill>
                  <a:srgbClr val="F0F0E6"/>
                </a:solidFill>
                <a:latin typeface="Helvetica Neue"/>
                <a:ea typeface="Helvetica Neue"/>
                <a:cs typeface="Helvetica Neue"/>
                <a:sym typeface="Helvetica Neue"/>
              </a:rPr>
              <a:t> !!! </a:t>
            </a:r>
            <a:endParaRPr/>
          </a:p>
        </p:txBody>
      </p:sp>
      <p:sp>
        <p:nvSpPr>
          <p:cNvPr id="42" name="Google Shape;42;p4"/>
          <p:cNvSpPr/>
          <p:nvPr/>
        </p:nvSpPr>
        <p:spPr>
          <a:xfrm>
            <a:off x="609600" y="5943600"/>
            <a:ext cx="10953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75">
                <a:solidFill>
                  <a:srgbClr val="A7B09D"/>
                </a:solidFill>
                <a:latin typeface="Helvetica Neue"/>
                <a:ea typeface="Helvetica Neue"/>
                <a:cs typeface="Helvetica Neue"/>
                <a:sym typeface="Helvetica Neue"/>
              </a:rPr>
              <a:t>History repeats itself. I wanted to single-step it.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47" name="Shape 47"/>
        <p:cNvGrpSpPr/>
        <p:nvPr/>
      </p:nvGrpSpPr>
      <p:grpSpPr>
        <a:xfrm>
          <a:off x="0" y="0"/>
          <a:ext cx="0" cy="0"/>
          <a:chOff x="0" y="0"/>
          <a:chExt cx="0" cy="0"/>
        </a:xfrm>
      </p:grpSpPr>
      <p:sp>
        <p:nvSpPr>
          <p:cNvPr id="48" name="Google Shape;48;p5"/>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What you will walk away with</a:t>
            </a:r>
            <a:endParaRPr/>
          </a:p>
        </p:txBody>
      </p:sp>
      <p:sp>
        <p:nvSpPr>
          <p:cNvPr id="49" name="Google Shape;49;p5"/>
          <p:cNvSpPr/>
          <p:nvPr/>
        </p:nvSpPr>
        <p:spPr>
          <a:xfrm>
            <a:off x="609600" y="1743075"/>
            <a:ext cx="10972800" cy="3905250"/>
          </a:xfrm>
          <a:prstGeom prst="rect">
            <a:avLst/>
          </a:prstGeom>
          <a:noFill/>
          <a:ln>
            <a:noFill/>
          </a:ln>
        </p:spPr>
        <p:txBody>
          <a:bodyPr anchorCtr="0" anchor="t" bIns="45700" lIns="91425" spcFirstLastPara="1" rIns="91425" wrap="square" tIns="45700">
            <a:noAutofit/>
          </a:bodyPr>
          <a:lstStyle/>
          <a:p>
            <a:pPr indent="-190500" lvl="0" marL="304800" marR="0" rtl="0" algn="l">
              <a:spcBef>
                <a:spcPts val="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Historical knowledge of DOS .COM file infectors</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A DOS 6.22 environment with networking enabled. Woot!</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Assembly source files for testing in the lab</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Disinfector code for this variant</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54" name="Shape 54"/>
        <p:cNvGrpSpPr/>
        <p:nvPr/>
      </p:nvGrpSpPr>
      <p:grpSpPr>
        <a:xfrm>
          <a:off x="0" y="0"/>
          <a:ext cx="0" cy="0"/>
          <a:chOff x="0" y="0"/>
          <a:chExt cx="0" cy="0"/>
        </a:xfrm>
      </p:grpSpPr>
      <p:pic>
        <p:nvPicPr>
          <p:cNvPr id="55" name="Google Shape;55;p6"/>
          <p:cNvPicPr preferRelativeResize="0"/>
          <p:nvPr/>
        </p:nvPicPr>
        <p:blipFill rotWithShape="1">
          <a:blip r:embed="rId3">
            <a:alphaModFix/>
          </a:blip>
          <a:srcRect b="0" l="0" r="0" t="0"/>
          <a:stretch/>
        </p:blipFill>
        <p:spPr>
          <a:xfrm>
            <a:off x="1296060" y="1524000"/>
            <a:ext cx="1979879" cy="4286250"/>
          </a:xfrm>
          <a:prstGeom prst="rect">
            <a:avLst/>
          </a:prstGeom>
          <a:noFill/>
          <a:ln>
            <a:noFill/>
          </a:ln>
        </p:spPr>
      </p:pic>
      <p:pic>
        <p:nvPicPr>
          <p:cNvPr id="56" name="Google Shape;56;p6"/>
          <p:cNvPicPr preferRelativeResize="0"/>
          <p:nvPr/>
        </p:nvPicPr>
        <p:blipFill rotWithShape="1">
          <a:blip r:embed="rId4">
            <a:alphaModFix/>
          </a:blip>
          <a:srcRect b="0" l="0" r="0" t="0"/>
          <a:stretch/>
        </p:blipFill>
        <p:spPr>
          <a:xfrm>
            <a:off x="5010810" y="1524000"/>
            <a:ext cx="1979879" cy="4286250"/>
          </a:xfrm>
          <a:prstGeom prst="rect">
            <a:avLst/>
          </a:prstGeom>
          <a:noFill/>
          <a:ln>
            <a:noFill/>
          </a:ln>
        </p:spPr>
      </p:pic>
      <p:sp>
        <p:nvSpPr>
          <p:cNvPr id="57" name="Google Shape;57;p6"/>
          <p:cNvSpPr/>
          <p:nvPr/>
        </p:nvSpPr>
        <p:spPr>
          <a:xfrm>
            <a:off x="8334375" y="1952625"/>
            <a:ext cx="3333750" cy="3333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550">
                <a:solidFill>
                  <a:srgbClr val="CAFF45"/>
                </a:solidFill>
                <a:latin typeface="Helvetica Neue"/>
                <a:ea typeface="Helvetica Neue"/>
                <a:cs typeface="Helvetica Neue"/>
                <a:sym typeface="Helvetica Neue"/>
              </a:rPr>
              <a:t>Spring 1992</a:t>
            </a:r>
            <a:endParaRPr/>
          </a:p>
          <a:p>
            <a:pPr indent="0" lvl="0" marL="0" marR="0" rtl="0" algn="l">
              <a:spcBef>
                <a:spcPts val="0"/>
              </a:spcBef>
              <a:spcAft>
                <a:spcPts val="0"/>
              </a:spcAft>
              <a:buNone/>
            </a:pPr>
            <a:r>
              <a:t/>
            </a:r>
            <a:endParaRPr b="1" sz="2550">
              <a:solidFill>
                <a:srgbClr val="CAFF45"/>
              </a:solidFill>
              <a:latin typeface="Helvetica Neue"/>
              <a:ea typeface="Helvetica Neue"/>
              <a:cs typeface="Helvetica Neue"/>
              <a:sym typeface="Helvetica Neue"/>
            </a:endParaRPr>
          </a:p>
          <a:p>
            <a:pPr indent="0" lvl="0" marL="0" marR="0" rtl="0" algn="l">
              <a:spcBef>
                <a:spcPts val="0"/>
              </a:spcBef>
              <a:spcAft>
                <a:spcPts val="0"/>
              </a:spcAft>
              <a:buNone/>
            </a:pPr>
            <a:r>
              <a:rPr b="1" lang="en-US" sz="2550">
                <a:solidFill>
                  <a:srgbClr val="CAFF45"/>
                </a:solidFill>
                <a:latin typeface="Helvetica Neue"/>
                <a:ea typeface="Helvetica Neue"/>
                <a:cs typeface="Helvetica Neue"/>
                <a:sym typeface="Helvetica Neue"/>
              </a:rPr>
              <a:t>Pages 5–6</a:t>
            </a:r>
            <a:endParaRPr/>
          </a:p>
          <a:p>
            <a:pPr indent="0" lvl="0" marL="0" marR="0" rtl="0" algn="l">
              <a:spcBef>
                <a:spcPts val="0"/>
              </a:spcBef>
              <a:spcAft>
                <a:spcPts val="0"/>
              </a:spcAft>
              <a:buNone/>
            </a:pPr>
            <a:r>
              <a:t/>
            </a:r>
            <a:endParaRPr b="1" sz="2550">
              <a:solidFill>
                <a:srgbClr val="CAFF45"/>
              </a:solidFill>
              <a:latin typeface="Helvetica Neue"/>
              <a:ea typeface="Helvetica Neue"/>
              <a:cs typeface="Helvetica Neue"/>
              <a:sym typeface="Helvetica Neue"/>
            </a:endParaRPr>
          </a:p>
          <a:p>
            <a:pPr indent="0" lvl="0" marL="0" marR="0" rtl="0" algn="l">
              <a:spcBef>
                <a:spcPts val="0"/>
              </a:spcBef>
              <a:spcAft>
                <a:spcPts val="0"/>
              </a:spcAft>
              <a:buNone/>
            </a:pPr>
            <a:r>
              <a:rPr b="1" lang="en-US" sz="2550">
                <a:solidFill>
                  <a:srgbClr val="CAFF45"/>
                </a:solidFill>
                <a:latin typeface="Helvetica Neue"/>
                <a:ea typeface="Helvetica Neue"/>
                <a:cs typeface="Helvetica Neue"/>
                <a:sym typeface="Helvetica Neue"/>
              </a:rPr>
              <a:t>DOS .COM listing</a:t>
            </a:r>
            <a:endParaRPr/>
          </a:p>
        </p:txBody>
      </p:sp>
      <p:sp>
        <p:nvSpPr>
          <p:cNvPr id="58" name="Google Shape;58;p6"/>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The start: image to code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63" name="Shape 63"/>
        <p:cNvGrpSpPr/>
        <p:nvPr/>
      </p:nvGrpSpPr>
      <p:grpSpPr>
        <a:xfrm>
          <a:off x="0" y="0"/>
          <a:ext cx="0" cy="0"/>
          <a:chOff x="0" y="0"/>
          <a:chExt cx="0" cy="0"/>
        </a:xfrm>
      </p:grpSpPr>
      <p:sp>
        <p:nvSpPr>
          <p:cNvPr id="64" name="Google Shape;64;p7"/>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Tools needed</a:t>
            </a:r>
            <a:endParaRPr/>
          </a:p>
        </p:txBody>
      </p:sp>
      <p:sp>
        <p:nvSpPr>
          <p:cNvPr id="65" name="Google Shape;65;p7"/>
          <p:cNvSpPr/>
          <p:nvPr/>
        </p:nvSpPr>
        <p:spPr>
          <a:xfrm>
            <a:off x="609600" y="1743075"/>
            <a:ext cx="10972800" cy="3905250"/>
          </a:xfrm>
          <a:prstGeom prst="rect">
            <a:avLst/>
          </a:prstGeom>
          <a:noFill/>
          <a:ln>
            <a:noFill/>
          </a:ln>
        </p:spPr>
        <p:txBody>
          <a:bodyPr anchorCtr="0" anchor="t" bIns="45700" lIns="91425" spcFirstLastPara="1" rIns="91425" wrap="square" tIns="45700">
            <a:noAutofit/>
          </a:bodyPr>
          <a:lstStyle/>
          <a:p>
            <a:pPr indent="-190500" lvl="0" marL="304800" marR="0" rtl="0" algn="l">
              <a:spcBef>
                <a:spcPts val="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A hypervisor with virtual floppy-drive support</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A DOS environment for running the programs</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Assemblers: NASM and MASM</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DOS DEBUG to inspect memory and instructions</a:t>
            </a:r>
            <a:endParaRPr/>
          </a:p>
          <a:p>
            <a:pPr indent="-190500" lvl="0" marL="304800" marR="0" rtl="0" algn="l">
              <a:spcBef>
                <a:spcPts val="3000"/>
              </a:spcBef>
              <a:spcAft>
                <a:spcPts val="0"/>
              </a:spcAft>
              <a:buClr>
                <a:srgbClr val="F0F0E6"/>
              </a:buClr>
              <a:buSzPts val="2250"/>
              <a:buFont typeface="Helvetica Neue"/>
              <a:buChar char="•"/>
            </a:pPr>
            <a:r>
              <a:rPr b="0" lang="en-US" sz="2250">
                <a:solidFill>
                  <a:srgbClr val="F0F0E6"/>
                </a:solidFill>
                <a:latin typeface="Helvetica Neue"/>
                <a:ea typeface="Helvetica Neue"/>
                <a:cs typeface="Helvetica Neue"/>
                <a:sym typeface="Helvetica Neue"/>
              </a:rPr>
              <a:t>A way to move source files and binaries into the lab</a:t>
            </a:r>
            <a:endParaRPr/>
          </a:p>
        </p:txBody>
      </p:sp>
      <p:sp>
        <p:nvSpPr>
          <p:cNvPr id="66" name="Google Shape;66;p7"/>
          <p:cNvSpPr/>
          <p:nvPr/>
        </p:nvSpPr>
        <p:spPr>
          <a:xfrm>
            <a:off x="609600" y="5943600"/>
            <a:ext cx="10953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75">
                <a:solidFill>
                  <a:srgbClr val="A7B09D"/>
                </a:solidFill>
                <a:latin typeface="Helvetica Neue"/>
                <a:ea typeface="Helvetica Neue"/>
                <a:cs typeface="Helvetica Neue"/>
                <a:sym typeface="Helvetica Neue"/>
              </a:rPr>
              <a:t>Edit on the host. Transfer to the lab. Inspect in DOS.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71" name="Shape 71"/>
        <p:cNvGrpSpPr/>
        <p:nvPr/>
      </p:nvGrpSpPr>
      <p:grpSpPr>
        <a:xfrm>
          <a:off x="0" y="0"/>
          <a:ext cx="0" cy="0"/>
          <a:chOff x="0" y="0"/>
          <a:chExt cx="0" cy="0"/>
        </a:xfrm>
      </p:grpSpPr>
      <p:pic>
        <p:nvPicPr>
          <p:cNvPr id="72" name="Google Shape;72;p8"/>
          <p:cNvPicPr preferRelativeResize="0"/>
          <p:nvPr/>
        </p:nvPicPr>
        <p:blipFill rotWithShape="1">
          <a:blip r:embed="rId3">
            <a:alphaModFix/>
          </a:blip>
          <a:srcRect b="14500" l="1500" r="44000" t="79000"/>
          <a:stretch/>
        </p:blipFill>
        <p:spPr>
          <a:xfrm>
            <a:off x="609600" y="1666875"/>
            <a:ext cx="10668000" cy="2000250"/>
          </a:xfrm>
          <a:prstGeom prst="rect">
            <a:avLst/>
          </a:prstGeom>
          <a:noFill/>
          <a:ln>
            <a:noFill/>
          </a:ln>
        </p:spPr>
      </p:pic>
      <p:sp>
        <p:nvSpPr>
          <p:cNvPr id="73" name="Google Shape;73;p8"/>
          <p:cNvSpPr/>
          <p:nvPr/>
        </p:nvSpPr>
        <p:spPr>
          <a:xfrm>
            <a:off x="609600" y="4000500"/>
            <a:ext cx="3810000" cy="476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PHOTO</a:t>
            </a:r>
            <a:endParaRPr/>
          </a:p>
        </p:txBody>
      </p:sp>
      <p:sp>
        <p:nvSpPr>
          <p:cNvPr id="74" name="Google Shape;74;p8"/>
          <p:cNvSpPr/>
          <p:nvPr/>
        </p:nvSpPr>
        <p:spPr>
          <a:xfrm>
            <a:off x="609600" y="4552950"/>
            <a:ext cx="4953000" cy="762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3525">
                <a:solidFill>
                  <a:srgbClr val="F0F0E6"/>
                </a:solidFill>
                <a:latin typeface="Helvetica Neue"/>
                <a:ea typeface="Helvetica Neue"/>
                <a:cs typeface="Helvetica Neue"/>
                <a:sym typeface="Helvetica Neue"/>
              </a:rPr>
              <a:t>0BBh, 01, 00</a:t>
            </a:r>
            <a:endParaRPr/>
          </a:p>
        </p:txBody>
      </p:sp>
      <p:sp>
        <p:nvSpPr>
          <p:cNvPr id="75" name="Google Shape;75;p8"/>
          <p:cNvSpPr/>
          <p:nvPr/>
        </p:nvSpPr>
        <p:spPr>
          <a:xfrm>
            <a:off x="6572250" y="4000500"/>
            <a:ext cx="4953000" cy="476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FFB66B"/>
                </a:solidFill>
                <a:latin typeface="Helvetica Neue"/>
                <a:ea typeface="Helvetica Neue"/>
                <a:cs typeface="Helvetica Neue"/>
                <a:sym typeface="Helvetica Neue"/>
              </a:rPr>
              <a:t>FIRST TRANSCRIPT</a:t>
            </a:r>
            <a:endParaRPr/>
          </a:p>
        </p:txBody>
      </p:sp>
      <p:sp>
        <p:nvSpPr>
          <p:cNvPr id="76" name="Google Shape;76;p8"/>
          <p:cNvSpPr/>
          <p:nvPr/>
        </p:nvSpPr>
        <p:spPr>
          <a:xfrm>
            <a:off x="6572250" y="4552950"/>
            <a:ext cx="4953000" cy="762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3525">
                <a:solidFill>
                  <a:srgbClr val="F0F0E6"/>
                </a:solidFill>
                <a:latin typeface="Helvetica Neue"/>
                <a:ea typeface="Helvetica Neue"/>
                <a:cs typeface="Helvetica Neue"/>
                <a:sym typeface="Helvetica Neue"/>
              </a:rPr>
              <a:t>08Bh, 01, 00</a:t>
            </a:r>
            <a:endParaRPr/>
          </a:p>
        </p:txBody>
      </p:sp>
      <p:sp>
        <p:nvSpPr>
          <p:cNvPr id="77" name="Google Shape;77;p8"/>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One character changed the instruction</a:t>
            </a:r>
            <a:endParaRPr/>
          </a:p>
        </p:txBody>
      </p:sp>
      <p:sp>
        <p:nvSpPr>
          <p:cNvPr id="78" name="Google Shape;78;p8"/>
          <p:cNvSpPr/>
          <p:nvPr/>
        </p:nvSpPr>
        <p:spPr>
          <a:xfrm>
            <a:off x="609600" y="5943600"/>
            <a:ext cx="10953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75">
                <a:solidFill>
                  <a:srgbClr val="A7B09D"/>
                </a:solidFill>
                <a:latin typeface="Helvetica Neue"/>
                <a:ea typeface="Helvetica Neue"/>
                <a:cs typeface="Helvetica Neue"/>
                <a:sym typeface="Helvetica Neue"/>
              </a:rPr>
              <a:t>Source photograph above. Initial transcription below right.</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83" name="Shape 83"/>
        <p:cNvGrpSpPr/>
        <p:nvPr/>
      </p:nvGrpSpPr>
      <p:grpSpPr>
        <a:xfrm>
          <a:off x="0" y="0"/>
          <a:ext cx="0" cy="0"/>
          <a:chOff x="0" y="0"/>
          <a:chExt cx="0" cy="0"/>
        </a:xfrm>
      </p:grpSpPr>
      <p:sp>
        <p:nvSpPr>
          <p:cNvPr id="84" name="Google Shape;84;p9"/>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NASM conversion needed byte checks</a:t>
            </a:r>
            <a:endParaRPr/>
          </a:p>
        </p:txBody>
      </p:sp>
      <p:sp>
        <p:nvSpPr>
          <p:cNvPr id="85" name="Google Shape;85;p9"/>
          <p:cNvSpPr/>
          <p:nvPr/>
        </p:nvSpPr>
        <p:spPr>
          <a:xfrm>
            <a:off x="609600" y="2076450"/>
            <a:ext cx="4857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SAME VALUE</a:t>
            </a:r>
            <a:endParaRPr/>
          </a:p>
        </p:txBody>
      </p:sp>
      <p:sp>
        <p:nvSpPr>
          <p:cNvPr id="86" name="Google Shape;86;p9"/>
          <p:cNvSpPr/>
          <p:nvPr/>
        </p:nvSpPr>
        <p:spPr>
          <a:xfrm>
            <a:off x="609600" y="2857500"/>
            <a:ext cx="4857750" cy="2571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3225">
                <a:solidFill>
                  <a:srgbClr val="F0F0E6"/>
                </a:solidFill>
                <a:latin typeface="Helvetica Neue"/>
                <a:ea typeface="Helvetica Neue"/>
                <a:cs typeface="Helvetica Neue"/>
                <a:sym typeface="Helvetica Neue"/>
              </a:rPr>
              <a:t>0FF0Eh</a:t>
            </a:r>
            <a:endParaRPr/>
          </a:p>
          <a:p>
            <a:pPr indent="0" lvl="0" marL="0" marR="0" rtl="0" algn="l">
              <a:spcBef>
                <a:spcPts val="0"/>
              </a:spcBef>
              <a:spcAft>
                <a:spcPts val="0"/>
              </a:spcAft>
              <a:buNone/>
            </a:pPr>
            <a:r>
              <a:rPr b="0" lang="en-US" sz="3225">
                <a:solidFill>
                  <a:srgbClr val="F0F0E6"/>
                </a:solidFill>
                <a:latin typeface="Helvetica Neue"/>
                <a:ea typeface="Helvetica Neue"/>
                <a:cs typeface="Helvetica Neue"/>
                <a:sym typeface="Helvetica Neue"/>
              </a:rPr>
              <a:t>0xFF0E</a:t>
            </a:r>
            <a:endParaRPr/>
          </a:p>
        </p:txBody>
      </p:sp>
      <p:sp>
        <p:nvSpPr>
          <p:cNvPr id="87" name="Google Shape;87;p9"/>
          <p:cNvSpPr/>
          <p:nvPr/>
        </p:nvSpPr>
        <p:spPr>
          <a:xfrm>
            <a:off x="6572250" y="2076450"/>
            <a:ext cx="4857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DIFFERENT INSTRUCTIONS</a:t>
            </a:r>
            <a:endParaRPr/>
          </a:p>
        </p:txBody>
      </p:sp>
      <p:sp>
        <p:nvSpPr>
          <p:cNvPr id="88" name="Google Shape;88;p9"/>
          <p:cNvSpPr/>
          <p:nvPr/>
        </p:nvSpPr>
        <p:spPr>
          <a:xfrm>
            <a:off x="6572250" y="2857500"/>
            <a:ext cx="4857750" cy="2571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3225">
                <a:solidFill>
                  <a:srgbClr val="F0F0E6"/>
                </a:solidFill>
                <a:latin typeface="Helvetica Neue"/>
                <a:ea typeface="Helvetica Neue"/>
                <a:cs typeface="Helvetica Neue"/>
                <a:sym typeface="Helvetica Neue"/>
              </a:rPr>
              <a:t>mov cx, 0</a:t>
            </a:r>
            <a:endParaRPr/>
          </a:p>
          <a:p>
            <a:pPr indent="0" lvl="0" marL="0" marR="0" rtl="0" algn="l">
              <a:spcBef>
                <a:spcPts val="0"/>
              </a:spcBef>
              <a:spcAft>
                <a:spcPts val="0"/>
              </a:spcAft>
              <a:buNone/>
            </a:pPr>
            <a:r>
              <a:rPr b="0" lang="en-US" sz="3225">
                <a:solidFill>
                  <a:srgbClr val="F0F0E6"/>
                </a:solidFill>
                <a:latin typeface="Helvetica Neue"/>
                <a:ea typeface="Helvetica Neue"/>
                <a:cs typeface="Helvetica Neue"/>
                <a:sym typeface="Helvetica Neue"/>
              </a:rPr>
              <a:t>xor cx, cx</a:t>
            </a:r>
            <a:endParaRPr/>
          </a:p>
        </p:txBody>
      </p:sp>
      <p:sp>
        <p:nvSpPr>
          <p:cNvPr id="89" name="Google Shape;89;p9"/>
          <p:cNvSpPr/>
          <p:nvPr/>
        </p:nvSpPr>
        <p:spPr>
          <a:xfrm>
            <a:off x="609600" y="5943600"/>
            <a:ext cx="10953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75">
                <a:solidFill>
                  <a:srgbClr val="A7B09D"/>
                </a:solidFill>
                <a:latin typeface="Helvetica Neue"/>
                <a:ea typeface="Helvetica Neue"/>
                <a:cs typeface="Helvetica Neue"/>
                <a:sym typeface="Helvetica Neue"/>
              </a:rPr>
              <a:t>Equivalent register values can still hide different bytes and side effects.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94" name="Shape 94"/>
        <p:cNvGrpSpPr/>
        <p:nvPr/>
      </p:nvGrpSpPr>
      <p:grpSpPr>
        <a:xfrm>
          <a:off x="0" y="0"/>
          <a:ext cx="0" cy="0"/>
          <a:chOff x="0" y="0"/>
          <a:chExt cx="0" cy="0"/>
        </a:xfrm>
      </p:grpSpPr>
      <p:pic>
        <p:nvPicPr>
          <p:cNvPr id="95" name="Google Shape;95;p10"/>
          <p:cNvPicPr preferRelativeResize="0"/>
          <p:nvPr/>
        </p:nvPicPr>
        <p:blipFill rotWithShape="1">
          <a:blip r:embed="rId3">
            <a:alphaModFix/>
          </a:blip>
          <a:srcRect b="0" l="0" r="0" t="0"/>
          <a:stretch/>
        </p:blipFill>
        <p:spPr>
          <a:xfrm>
            <a:off x="2489127" y="1714500"/>
            <a:ext cx="7213746" cy="3476625"/>
          </a:xfrm>
          <a:prstGeom prst="rect">
            <a:avLst/>
          </a:prstGeom>
          <a:noFill/>
          <a:ln>
            <a:noFill/>
          </a:ln>
        </p:spPr>
      </p:pic>
      <p:sp>
        <p:nvSpPr>
          <p:cNvPr id="96" name="Google Shape;96;p10"/>
          <p:cNvSpPr/>
          <p:nvPr/>
        </p:nvSpPr>
        <p:spPr>
          <a:xfrm>
            <a:off x="609600" y="5476875"/>
            <a:ext cx="1097280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CAFF45"/>
                </a:solidFill>
                <a:latin typeface="Helvetica Neue"/>
                <a:ea typeface="Helvetica Neue"/>
                <a:cs typeface="Helvetica Neue"/>
                <a:sym typeface="Helvetica Neue"/>
              </a:rPr>
              <a:t>January 19: DEBUG inspecting find2.com</a:t>
            </a:r>
            <a:endParaRPr/>
          </a:p>
        </p:txBody>
      </p:sp>
      <p:sp>
        <p:nvSpPr>
          <p:cNvPr id="97" name="Google Shape;97;p10"/>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The debugger made the bytes visible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02" name="Shape 102"/>
        <p:cNvGrpSpPr/>
        <p:nvPr/>
      </p:nvGrpSpPr>
      <p:grpSpPr>
        <a:xfrm>
          <a:off x="0" y="0"/>
          <a:ext cx="0" cy="0"/>
          <a:chOff x="0" y="0"/>
          <a:chExt cx="0" cy="0"/>
        </a:xfrm>
      </p:grpSpPr>
      <p:pic>
        <p:nvPicPr>
          <p:cNvPr id="103" name="Google Shape;103;p11"/>
          <p:cNvPicPr preferRelativeResize="0"/>
          <p:nvPr/>
        </p:nvPicPr>
        <p:blipFill rotWithShape="1">
          <a:blip r:embed="rId3">
            <a:alphaModFix/>
          </a:blip>
          <a:srcRect b="0" l="0" r="0" t="0"/>
          <a:stretch/>
        </p:blipFill>
        <p:spPr>
          <a:xfrm>
            <a:off x="609600" y="2284309"/>
            <a:ext cx="10972800" cy="2337006"/>
          </a:xfrm>
          <a:prstGeom prst="rect">
            <a:avLst/>
          </a:prstGeom>
          <a:noFill/>
          <a:ln>
            <a:noFill/>
          </a:ln>
        </p:spPr>
      </p:pic>
      <p:sp>
        <p:nvSpPr>
          <p:cNvPr id="104" name="Google Shape;104;p11"/>
          <p:cNvSpPr/>
          <p:nvPr/>
        </p:nvSpPr>
        <p:spPr>
          <a:xfrm>
            <a:off x="609600" y="5476875"/>
            <a:ext cx="1097280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CAFF45"/>
                </a:solidFill>
                <a:latin typeface="Helvetica Neue"/>
                <a:ea typeface="Helvetica Neue"/>
                <a:cs typeface="Helvetica Neue"/>
                <a:sym typeface="Helvetica Neue"/>
              </a:rPr>
              <a:t>“Found a file” and “open was successful”</a:t>
            </a:r>
            <a:endParaRPr/>
          </a:p>
        </p:txBody>
      </p:sp>
      <p:sp>
        <p:nvSpPr>
          <p:cNvPr id="105" name="Google Shape;105;p11"/>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Progress messages narrowed the search</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10" name="Shape 110"/>
        <p:cNvGrpSpPr/>
        <p:nvPr/>
      </p:nvGrpSpPr>
      <p:grpSpPr>
        <a:xfrm>
          <a:off x="0" y="0"/>
          <a:ext cx="0" cy="0"/>
          <a:chOff x="0" y="0"/>
          <a:chExt cx="0" cy="0"/>
        </a:xfrm>
      </p:grpSpPr>
      <p:pic>
        <p:nvPicPr>
          <p:cNvPr id="111" name="Google Shape;111;p12"/>
          <p:cNvPicPr preferRelativeResize="0"/>
          <p:nvPr/>
        </p:nvPicPr>
        <p:blipFill rotWithShape="1">
          <a:blip r:embed="rId3">
            <a:alphaModFix/>
          </a:blip>
          <a:srcRect b="0" l="0" r="0" t="0"/>
          <a:stretch/>
        </p:blipFill>
        <p:spPr>
          <a:xfrm>
            <a:off x="609600" y="2528554"/>
            <a:ext cx="10972800" cy="1848518"/>
          </a:xfrm>
          <a:prstGeom prst="rect">
            <a:avLst/>
          </a:prstGeom>
          <a:noFill/>
          <a:ln>
            <a:noFill/>
          </a:ln>
        </p:spPr>
      </p:pic>
      <p:sp>
        <p:nvSpPr>
          <p:cNvPr id="112" name="Google Shape;112;p12"/>
          <p:cNvSpPr/>
          <p:nvPr/>
        </p:nvSpPr>
        <p:spPr>
          <a:xfrm>
            <a:off x="609600" y="5476875"/>
            <a:ext cx="1097280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CAFF45"/>
                </a:solidFill>
                <a:latin typeface="Helvetica Neue"/>
                <a:ea typeface="Helvetica Neue"/>
                <a:cs typeface="Helvetica Neue"/>
                <a:sym typeface="Helvetica Neue"/>
              </a:rPr>
              <a:t>January 30: repeated markers and corrupted-looking output</a:t>
            </a:r>
            <a:endParaRPr/>
          </a:p>
        </p:txBody>
      </p:sp>
      <p:sp>
        <p:nvSpPr>
          <p:cNvPr id="113" name="Google Shape;113;p12"/>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Repeated traces exposed more behavior</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18" name="Shape 118"/>
        <p:cNvGrpSpPr/>
        <p:nvPr/>
      </p:nvGrpSpPr>
      <p:grpSpPr>
        <a:xfrm>
          <a:off x="0" y="0"/>
          <a:ext cx="0" cy="0"/>
          <a:chOff x="0" y="0"/>
          <a:chExt cx="0" cy="0"/>
        </a:xfrm>
      </p:grpSpPr>
      <p:sp>
        <p:nvSpPr>
          <p:cNvPr id="119" name="Google Shape;119;p13"/>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The later variant changes the entry path</a:t>
            </a:r>
            <a:endParaRPr/>
          </a:p>
        </p:txBody>
      </p:sp>
      <p:sp>
        <p:nvSpPr>
          <p:cNvPr id="120" name="Google Shape;120;p13"/>
          <p:cNvSpPr/>
          <p:nvPr/>
        </p:nvSpPr>
        <p:spPr>
          <a:xfrm>
            <a:off x="609600" y="1952625"/>
            <a:ext cx="2762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ENTRY</a:t>
            </a:r>
            <a:endParaRPr/>
          </a:p>
        </p:txBody>
      </p:sp>
      <p:sp>
        <p:nvSpPr>
          <p:cNvPr id="121" name="Google Shape;121;p13"/>
          <p:cNvSpPr/>
          <p:nvPr/>
        </p:nvSpPr>
        <p:spPr>
          <a:xfrm>
            <a:off x="3476625" y="1952625"/>
            <a:ext cx="8001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475">
                <a:solidFill>
                  <a:srgbClr val="F0F0E6"/>
                </a:solidFill>
                <a:latin typeface="Helvetica Neue"/>
                <a:ea typeface="Helvetica Neue"/>
                <a:cs typeface="Helvetica Neue"/>
                <a:sym typeface="Helvetica Neue"/>
              </a:rPr>
              <a:t>Redirects execution into appended code</a:t>
            </a:r>
            <a:endParaRPr/>
          </a:p>
        </p:txBody>
      </p:sp>
      <p:sp>
        <p:nvSpPr>
          <p:cNvPr id="122" name="Google Shape;122;p13"/>
          <p:cNvSpPr/>
          <p:nvPr/>
        </p:nvSpPr>
        <p:spPr>
          <a:xfrm>
            <a:off x="609600" y="3190875"/>
            <a:ext cx="2762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SAVED STATE</a:t>
            </a:r>
            <a:endParaRPr/>
          </a:p>
        </p:txBody>
      </p:sp>
      <p:sp>
        <p:nvSpPr>
          <p:cNvPr id="123" name="Google Shape;123;p13"/>
          <p:cNvSpPr/>
          <p:nvPr/>
        </p:nvSpPr>
        <p:spPr>
          <a:xfrm>
            <a:off x="3476625" y="3190875"/>
            <a:ext cx="8001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475">
                <a:solidFill>
                  <a:srgbClr val="F0F0E6"/>
                </a:solidFill>
                <a:latin typeface="Helvetica Neue"/>
                <a:ea typeface="Helvetica Neue"/>
                <a:cs typeface="Helvetica Neue"/>
                <a:sym typeface="Helvetica Neue"/>
              </a:rPr>
              <a:t>Retains the original entry bytes</a:t>
            </a:r>
            <a:endParaRPr/>
          </a:p>
        </p:txBody>
      </p:sp>
      <p:sp>
        <p:nvSpPr>
          <p:cNvPr id="124" name="Google Shape;124;p13"/>
          <p:cNvSpPr/>
          <p:nvPr/>
        </p:nvSpPr>
        <p:spPr>
          <a:xfrm>
            <a:off x="609600" y="4429125"/>
            <a:ext cx="2762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HOST RETURN</a:t>
            </a:r>
            <a:endParaRPr/>
          </a:p>
        </p:txBody>
      </p:sp>
      <p:sp>
        <p:nvSpPr>
          <p:cNvPr id="125" name="Google Shape;125;p13"/>
          <p:cNvSpPr/>
          <p:nvPr/>
        </p:nvSpPr>
        <p:spPr>
          <a:xfrm>
            <a:off x="3476625" y="4429125"/>
            <a:ext cx="8001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475">
                <a:solidFill>
                  <a:srgbClr val="F0F0E6"/>
                </a:solidFill>
                <a:latin typeface="Helvetica Neue"/>
                <a:ea typeface="Helvetica Neue"/>
                <a:cs typeface="Helvetica Neue"/>
                <a:sym typeface="Helvetica Neue"/>
              </a:rPr>
              <a:t>Restores those bytes in memory</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30" name="Shape 130"/>
        <p:cNvGrpSpPr/>
        <p:nvPr/>
      </p:nvGrpSpPr>
      <p:grpSpPr>
        <a:xfrm>
          <a:off x="0" y="0"/>
          <a:ext cx="0" cy="0"/>
          <a:chOff x="0" y="0"/>
          <a:chExt cx="0" cy="0"/>
        </a:xfrm>
      </p:grpSpPr>
      <p:pic>
        <p:nvPicPr>
          <p:cNvPr id="131" name="Google Shape;131;p14"/>
          <p:cNvPicPr preferRelativeResize="0"/>
          <p:nvPr/>
        </p:nvPicPr>
        <p:blipFill rotWithShape="1">
          <a:blip r:embed="rId3">
            <a:alphaModFix/>
          </a:blip>
          <a:srcRect b="0" l="0" r="0" t="0"/>
          <a:stretch/>
        </p:blipFill>
        <p:spPr>
          <a:xfrm>
            <a:off x="952500" y="0"/>
            <a:ext cx="10287000" cy="68580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36" name="Shape 136"/>
        <p:cNvGrpSpPr/>
        <p:nvPr/>
      </p:nvGrpSpPr>
      <p:grpSpPr>
        <a:xfrm>
          <a:off x="0" y="0"/>
          <a:ext cx="0" cy="0"/>
          <a:chOff x="0" y="0"/>
          <a:chExt cx="0" cy="0"/>
        </a:xfrm>
      </p:grpSpPr>
      <p:pic>
        <p:nvPicPr>
          <p:cNvPr id="137" name="Google Shape;137;p15"/>
          <p:cNvPicPr preferRelativeResize="0"/>
          <p:nvPr/>
        </p:nvPicPr>
        <p:blipFill rotWithShape="1">
          <a:blip r:embed="rId3">
            <a:alphaModFix/>
          </a:blip>
          <a:srcRect b="0" l="0" r="0" t="0"/>
          <a:stretch/>
        </p:blipFill>
        <p:spPr>
          <a:xfrm>
            <a:off x="2422506" y="1714500"/>
            <a:ext cx="7346988" cy="3476625"/>
          </a:xfrm>
          <a:prstGeom prst="rect">
            <a:avLst/>
          </a:prstGeom>
          <a:noFill/>
          <a:ln>
            <a:noFill/>
          </a:ln>
        </p:spPr>
      </p:pic>
      <p:sp>
        <p:nvSpPr>
          <p:cNvPr id="138" name="Google Shape;138;p15"/>
          <p:cNvSpPr/>
          <p:nvPr/>
        </p:nvSpPr>
        <p:spPr>
          <a:xfrm>
            <a:off x="609600" y="5476875"/>
            <a:ext cx="1097280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CAFF45"/>
                </a:solidFill>
                <a:latin typeface="Helvetica Neue"/>
                <a:ea typeface="Helvetica Neue"/>
                <a:cs typeface="Helvetica Neue"/>
                <a:sym typeface="Helvetica Neue"/>
              </a:rPr>
              <a:t>1992code.com / 412 bytes / identified as gzip / 0 of 61</a:t>
            </a:r>
            <a:endParaRPr/>
          </a:p>
        </p:txBody>
      </p:sp>
      <p:sp>
        <p:nvSpPr>
          <p:cNvPr id="139" name="Google Shape;139;p15"/>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This report showed zero detections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44" name="Shape 144"/>
        <p:cNvGrpSpPr/>
        <p:nvPr/>
      </p:nvGrpSpPr>
      <p:grpSpPr>
        <a:xfrm>
          <a:off x="0" y="0"/>
          <a:ext cx="0" cy="0"/>
          <a:chOff x="0" y="0"/>
          <a:chExt cx="0" cy="0"/>
        </a:xfrm>
      </p:grpSpPr>
      <p:pic>
        <p:nvPicPr>
          <p:cNvPr id="145" name="Google Shape;145;p16"/>
          <p:cNvPicPr preferRelativeResize="0"/>
          <p:nvPr/>
        </p:nvPicPr>
        <p:blipFill rotWithShape="1">
          <a:blip r:embed="rId3">
            <a:alphaModFix/>
          </a:blip>
          <a:srcRect b="0" l="0" r="0" t="0"/>
          <a:stretch/>
        </p:blipFill>
        <p:spPr>
          <a:xfrm>
            <a:off x="3020833" y="1714500"/>
            <a:ext cx="6150334" cy="3476625"/>
          </a:xfrm>
          <a:prstGeom prst="rect">
            <a:avLst/>
          </a:prstGeom>
          <a:noFill/>
          <a:ln>
            <a:noFill/>
          </a:ln>
        </p:spPr>
      </p:pic>
      <p:sp>
        <p:nvSpPr>
          <p:cNvPr id="146" name="Google Shape;146;p16"/>
          <p:cNvSpPr/>
          <p:nvPr/>
        </p:nvSpPr>
        <p:spPr>
          <a:xfrm>
            <a:off x="609600" y="5476875"/>
            <a:ext cx="1097280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CAFF45"/>
                </a:solidFill>
                <a:latin typeface="Helvetica Neue"/>
                <a:ea typeface="Helvetica Neue"/>
                <a:cs typeface="Helvetica Neue"/>
                <a:sym typeface="Helvetica Neue"/>
              </a:rPr>
              <a:t>1992.EXE / 924 bytes / identified as MZ / 18 of 62</a:t>
            </a:r>
            <a:endParaRPr/>
          </a:p>
        </p:txBody>
      </p:sp>
      <p:sp>
        <p:nvSpPr>
          <p:cNvPr id="147" name="Google Shape;147;p16"/>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Another report showed 18 detections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52" name="Shape 152"/>
        <p:cNvGrpSpPr/>
        <p:nvPr/>
      </p:nvGrpSpPr>
      <p:grpSpPr>
        <a:xfrm>
          <a:off x="0" y="0"/>
          <a:ext cx="0" cy="0"/>
          <a:chOff x="0" y="0"/>
          <a:chExt cx="0" cy="0"/>
        </a:xfrm>
      </p:grpSpPr>
      <p:graphicFrame>
        <p:nvGraphicFramePr>
          <p:cNvPr id="153" name="Google Shape;153;p17"/>
          <p:cNvGraphicFramePr/>
          <p:nvPr/>
        </p:nvGraphicFramePr>
        <p:xfrm>
          <a:off x="609600" y="1905000"/>
          <a:ext cx="3000000" cy="3000000"/>
        </p:xfrm>
        <a:graphic>
          <a:graphicData uri="http://schemas.openxmlformats.org/drawingml/2006/table">
            <a:tbl>
              <a:tblPr>
                <a:noFill/>
                <a:tableStyleId>{1A666504-75EB-4913-86AC-4C245FBB91B0}</a:tableStyleId>
              </a:tblPr>
              <a:tblGrid>
                <a:gridCol w="3810000"/>
                <a:gridCol w="3429000"/>
                <a:gridCol w="3733800"/>
              </a:tblGrid>
              <a:tr h="1079500">
                <a:tc>
                  <a:txBody>
                    <a:bodyPr/>
                    <a:lstStyle/>
                    <a:p>
                      <a:pPr indent="0" lvl="0" marL="0" marR="0" rtl="0" algn="l">
                        <a:spcBef>
                          <a:spcPts val="0"/>
                        </a:spcBef>
                        <a:spcAft>
                          <a:spcPts val="0"/>
                        </a:spcAft>
                        <a:buClr>
                          <a:srgbClr val="CAFF45"/>
                        </a:buClr>
                        <a:buSzPts val="1800"/>
                        <a:buFont typeface="Helvetica Neue"/>
                        <a:buNone/>
                      </a:pPr>
                      <a:r>
                        <a:rPr b="1" lang="en-US" sz="1800" u="none" cap="none" strike="noStrike">
                          <a:solidFill>
                            <a:srgbClr val="CAFF45"/>
                          </a:solidFill>
                          <a:latin typeface="Helvetica Neue"/>
                          <a:ea typeface="Helvetica Neue"/>
                          <a:cs typeface="Helvetica Neue"/>
                          <a:sym typeface="Helvetica Neue"/>
                        </a:rPr>
                        <a:t>Submitted file</a:t>
                      </a:r>
                      <a:endParaRPr/>
                    </a:p>
                  </a:txBody>
                  <a:tcPr marT="45725" marB="45725" marR="91450" marL="91450">
                    <a:solidFill>
                      <a:srgbClr val="27301E"/>
                    </a:solidFill>
                  </a:tcPr>
                </a:tc>
                <a:tc>
                  <a:txBody>
                    <a:bodyPr/>
                    <a:lstStyle/>
                    <a:p>
                      <a:pPr indent="0" lvl="0" marL="0" marR="0" rtl="0" algn="l">
                        <a:spcBef>
                          <a:spcPts val="0"/>
                        </a:spcBef>
                        <a:spcAft>
                          <a:spcPts val="0"/>
                        </a:spcAft>
                        <a:buClr>
                          <a:srgbClr val="CAFF45"/>
                        </a:buClr>
                        <a:buSzPts val="1800"/>
                        <a:buFont typeface="Helvetica Neue"/>
                        <a:buNone/>
                      </a:pPr>
                      <a:r>
                        <a:rPr b="1" lang="en-US" sz="1800">
                          <a:solidFill>
                            <a:srgbClr val="CAFF45"/>
                          </a:solidFill>
                          <a:latin typeface="Helvetica Neue"/>
                          <a:ea typeface="Helvetica Neue"/>
                          <a:cs typeface="Helvetica Neue"/>
                          <a:sym typeface="Helvetica Neue"/>
                        </a:rPr>
                        <a:t>Recognized format</a:t>
                      </a:r>
                      <a:endParaRPr/>
                    </a:p>
                  </a:txBody>
                  <a:tcPr marT="45725" marB="45725" marR="91450" marL="91450">
                    <a:solidFill>
                      <a:srgbClr val="27301E"/>
                    </a:solidFill>
                  </a:tcPr>
                </a:tc>
                <a:tc>
                  <a:txBody>
                    <a:bodyPr/>
                    <a:lstStyle/>
                    <a:p>
                      <a:pPr indent="0" lvl="0" marL="0" marR="0" rtl="0" algn="l">
                        <a:spcBef>
                          <a:spcPts val="0"/>
                        </a:spcBef>
                        <a:spcAft>
                          <a:spcPts val="0"/>
                        </a:spcAft>
                        <a:buClr>
                          <a:srgbClr val="CAFF45"/>
                        </a:buClr>
                        <a:buSzPts val="1800"/>
                        <a:buFont typeface="Helvetica Neue"/>
                        <a:buNone/>
                      </a:pPr>
                      <a:r>
                        <a:rPr b="1" lang="en-US" sz="1800">
                          <a:solidFill>
                            <a:srgbClr val="CAFF45"/>
                          </a:solidFill>
                          <a:latin typeface="Helvetica Neue"/>
                          <a:ea typeface="Helvetica Neue"/>
                          <a:cs typeface="Helvetica Neue"/>
                          <a:sym typeface="Helvetica Neue"/>
                        </a:rPr>
                        <a:t>Reported detections</a:t>
                      </a:r>
                      <a:endParaRPr/>
                    </a:p>
                  </a:txBody>
                  <a:tcPr marT="45725" marB="45725" marR="91450" marL="91450">
                    <a:solidFill>
                      <a:srgbClr val="27301E"/>
                    </a:solidFill>
                  </a:tcPr>
                </a:tc>
              </a:tr>
              <a:tr h="1079500">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1992code.com</a:t>
                      </a:r>
                      <a:endParaRPr/>
                    </a:p>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412 bytes</a:t>
                      </a:r>
                      <a:endParaRPr/>
                    </a:p>
                  </a:txBody>
                  <a:tcPr marT="45725" marB="45725" marR="91450" marL="91450">
                    <a:solidFill>
                      <a:srgbClr val="101310"/>
                    </a:solidFill>
                  </a:tcPr>
                </a:tc>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gzip</a:t>
                      </a:r>
                      <a:endParaRPr/>
                    </a:p>
                  </a:txBody>
                  <a:tcPr marT="45725" marB="45725" marR="91450" marL="91450">
                    <a:solidFill>
                      <a:srgbClr val="101310"/>
                    </a:solidFill>
                  </a:tcPr>
                </a:tc>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0 / 61</a:t>
                      </a:r>
                      <a:endParaRPr/>
                    </a:p>
                  </a:txBody>
                  <a:tcPr marT="45725" marB="45725" marR="91450" marL="91450">
                    <a:solidFill>
                      <a:srgbClr val="101310"/>
                    </a:solidFill>
                  </a:tcPr>
                </a:tc>
              </a:tr>
              <a:tr h="1079500">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1992.EXE</a:t>
                      </a:r>
                      <a:endParaRPr/>
                    </a:p>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924 bytes</a:t>
                      </a:r>
                      <a:endParaRPr/>
                    </a:p>
                  </a:txBody>
                  <a:tcPr marT="45725" marB="45725" marR="91450" marL="91450">
                    <a:solidFill>
                      <a:srgbClr val="101310"/>
                    </a:solidFill>
                  </a:tcPr>
                </a:tc>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MZ</a:t>
                      </a:r>
                      <a:endParaRPr/>
                    </a:p>
                  </a:txBody>
                  <a:tcPr marT="45725" marB="45725" marR="91450" marL="91450">
                    <a:solidFill>
                      <a:srgbClr val="101310"/>
                    </a:solidFill>
                  </a:tcPr>
                </a:tc>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18 / 62</a:t>
                      </a:r>
                      <a:endParaRPr/>
                    </a:p>
                  </a:txBody>
                  <a:tcPr marT="45725" marB="45725" marR="91450" marL="91450">
                    <a:solidFill>
                      <a:srgbClr val="101310"/>
                    </a:solidFill>
                  </a:tcPr>
                </a:tc>
              </a:tr>
            </a:tbl>
          </a:graphicData>
        </a:graphic>
      </p:graphicFrame>
      <p:sp>
        <p:nvSpPr>
          <p:cNvPr id="154" name="Google Shape;154;p17"/>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The submitted objects differed</a:t>
            </a:r>
            <a:endParaRPr/>
          </a:p>
        </p:txBody>
      </p:sp>
      <p:sp>
        <p:nvSpPr>
          <p:cNvPr id="155" name="Google Shape;155;p17"/>
          <p:cNvSpPr/>
          <p:nvPr/>
        </p:nvSpPr>
        <p:spPr>
          <a:xfrm>
            <a:off x="609600" y="5943600"/>
            <a:ext cx="10953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75">
                <a:solidFill>
                  <a:srgbClr val="A7B09D"/>
                </a:solidFill>
                <a:latin typeface="Helvetica Neue"/>
                <a:ea typeface="Helvetica Neue"/>
                <a:cs typeface="Helvetica Neue"/>
                <a:sym typeface="Helvetica Neue"/>
              </a:rPr>
              <a:t>Captured January 22, 2026. Different hashes, formats and analysis ages.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60" name="Shape 160"/>
        <p:cNvGrpSpPr/>
        <p:nvPr/>
      </p:nvGrpSpPr>
      <p:grpSpPr>
        <a:xfrm>
          <a:off x="0" y="0"/>
          <a:ext cx="0" cy="0"/>
          <a:chOff x="0" y="0"/>
          <a:chExt cx="0" cy="0"/>
        </a:xfrm>
      </p:grpSpPr>
      <p:sp>
        <p:nvSpPr>
          <p:cNvPr id="161" name="Google Shape;161;p18"/>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A green result leaves questions open</a:t>
            </a:r>
            <a:endParaRPr/>
          </a:p>
        </p:txBody>
      </p:sp>
      <p:sp>
        <p:nvSpPr>
          <p:cNvPr id="162" name="Google Shape;162;p18"/>
          <p:cNvSpPr/>
          <p:nvPr/>
        </p:nvSpPr>
        <p:spPr>
          <a:xfrm>
            <a:off x="609600" y="2095500"/>
            <a:ext cx="10953750" cy="1905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5775">
                <a:solidFill>
                  <a:srgbClr val="CAFF45"/>
                </a:solidFill>
                <a:latin typeface="Helvetica Neue"/>
                <a:ea typeface="Helvetica Neue"/>
                <a:cs typeface="Helvetica Neue"/>
                <a:sym typeface="Helvetica Neue"/>
              </a:rPr>
              <a:t>0 detections</a:t>
            </a:r>
            <a:endParaRPr/>
          </a:p>
          <a:p>
            <a:pPr indent="0" lvl="0" marL="0" marR="0" rtl="0" algn="l">
              <a:spcBef>
                <a:spcPts val="0"/>
              </a:spcBef>
              <a:spcAft>
                <a:spcPts val="0"/>
              </a:spcAft>
              <a:buNone/>
            </a:pPr>
            <a:r>
              <a:rPr b="1" lang="en-US" sz="5775">
                <a:solidFill>
                  <a:srgbClr val="CAFF45"/>
                </a:solidFill>
                <a:latin typeface="Helvetica Neue"/>
                <a:ea typeface="Helvetica Neue"/>
                <a:cs typeface="Helvetica Neue"/>
                <a:sym typeface="Helvetica Neue"/>
              </a:rPr>
              <a:t>≠ proof of safety</a:t>
            </a:r>
            <a:endParaRPr/>
          </a:p>
        </p:txBody>
      </p:sp>
      <p:sp>
        <p:nvSpPr>
          <p:cNvPr id="163" name="Google Shape;163;p18"/>
          <p:cNvSpPr/>
          <p:nvPr/>
        </p:nvSpPr>
        <p:spPr>
          <a:xfrm>
            <a:off x="647700" y="4429125"/>
            <a:ext cx="10477500" cy="1333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700">
                <a:solidFill>
                  <a:srgbClr val="F0F0E6"/>
                </a:solidFill>
                <a:latin typeface="Helvetica Neue"/>
                <a:ea typeface="Helvetica Neue"/>
                <a:cs typeface="Helvetica Neue"/>
                <a:sym typeface="Helvetica Neue"/>
              </a:rPr>
              <a:t>File identity and execution evidence still matter.</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68" name="Shape 168"/>
        <p:cNvGrpSpPr/>
        <p:nvPr/>
      </p:nvGrpSpPr>
      <p:grpSpPr>
        <a:xfrm>
          <a:off x="0" y="0"/>
          <a:ext cx="0" cy="0"/>
          <a:chOff x="0" y="0"/>
          <a:chExt cx="0" cy="0"/>
        </a:xfrm>
      </p:grpSpPr>
      <p:pic>
        <p:nvPicPr>
          <p:cNvPr id="169" name="Google Shape;169;p19"/>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74" name="Shape 174"/>
        <p:cNvGrpSpPr/>
        <p:nvPr/>
      </p:nvGrpSpPr>
      <p:grpSpPr>
        <a:xfrm>
          <a:off x="0" y="0"/>
          <a:ext cx="0" cy="0"/>
          <a:chOff x="0" y="0"/>
          <a:chExt cx="0" cy="0"/>
        </a:xfrm>
      </p:grpSpPr>
      <p:sp>
        <p:nvSpPr>
          <p:cNvPr id="175" name="Google Shape;175;p20"/>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My cleaner: disinfect.asm</a:t>
            </a:r>
            <a:endParaRPr/>
          </a:p>
        </p:txBody>
      </p:sp>
      <p:sp>
        <p:nvSpPr>
          <p:cNvPr id="176" name="Google Shape;176;p20"/>
          <p:cNvSpPr/>
          <p:nvPr/>
        </p:nvSpPr>
        <p:spPr>
          <a:xfrm>
            <a:off x="609600" y="2095500"/>
            <a:ext cx="10953750" cy="1905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5775">
                <a:solidFill>
                  <a:srgbClr val="CAFF45"/>
                </a:solidFill>
                <a:latin typeface="Helvetica Neue"/>
                <a:ea typeface="Helvetica Neue"/>
                <a:cs typeface="Helvetica Neue"/>
                <a:sym typeface="Helvetica Neue"/>
              </a:rPr>
              <a:t>Restore the entry.</a:t>
            </a:r>
            <a:endParaRPr/>
          </a:p>
          <a:p>
            <a:pPr indent="0" lvl="0" marL="0" marR="0" rtl="0" algn="l">
              <a:spcBef>
                <a:spcPts val="0"/>
              </a:spcBef>
              <a:spcAft>
                <a:spcPts val="0"/>
              </a:spcAft>
              <a:buNone/>
            </a:pPr>
            <a:r>
              <a:rPr b="1" lang="en-US" sz="5775">
                <a:solidFill>
                  <a:srgbClr val="CAFF45"/>
                </a:solidFill>
                <a:latin typeface="Helvetica Neue"/>
                <a:ea typeface="Helvetica Neue"/>
                <a:cs typeface="Helvetica Neue"/>
                <a:sym typeface="Helvetica Neue"/>
              </a:rPr>
              <a:t>Remove the appendage.</a:t>
            </a:r>
            <a:endParaRPr/>
          </a:p>
        </p:txBody>
      </p:sp>
      <p:sp>
        <p:nvSpPr>
          <p:cNvPr id="177" name="Google Shape;177;p20"/>
          <p:cNvSpPr/>
          <p:nvPr/>
        </p:nvSpPr>
        <p:spPr>
          <a:xfrm>
            <a:off x="647700" y="4429125"/>
            <a:ext cx="10477500" cy="1333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700">
                <a:solidFill>
                  <a:srgbClr val="F0F0E6"/>
                </a:solidFill>
                <a:latin typeface="Helvetica Neue"/>
                <a:ea typeface="Helvetica Neue"/>
                <a:cs typeface="Helvetica Neue"/>
                <a:sym typeface="Helvetica Neue"/>
              </a:rPr>
              <a:t>A separate DOS tool works on the file on disk.</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82" name="Shape 182"/>
        <p:cNvGrpSpPr/>
        <p:nvPr/>
      </p:nvGrpSpPr>
      <p:grpSpPr>
        <a:xfrm>
          <a:off x="0" y="0"/>
          <a:ext cx="0" cy="0"/>
          <a:chOff x="0" y="0"/>
          <a:chExt cx="0" cy="0"/>
        </a:xfrm>
      </p:grpSpPr>
      <p:pic>
        <p:nvPicPr>
          <p:cNvPr id="183" name="Google Shape;183;p21"/>
          <p:cNvPicPr preferRelativeResize="0"/>
          <p:nvPr/>
        </p:nvPicPr>
        <p:blipFill rotWithShape="1">
          <a:blip r:embed="rId3">
            <a:alphaModFix/>
          </a:blip>
          <a:srcRect b="0" l="0" r="0" t="0"/>
          <a:stretch/>
        </p:blipFill>
        <p:spPr>
          <a:xfrm>
            <a:off x="609600" y="2363179"/>
            <a:ext cx="10972800" cy="2179267"/>
          </a:xfrm>
          <a:prstGeom prst="rect">
            <a:avLst/>
          </a:prstGeom>
          <a:noFill/>
          <a:ln>
            <a:noFill/>
          </a:ln>
        </p:spPr>
      </p:pic>
      <p:sp>
        <p:nvSpPr>
          <p:cNvPr id="184" name="Google Shape;184;p21"/>
          <p:cNvSpPr/>
          <p:nvPr/>
        </p:nvSpPr>
        <p:spPr>
          <a:xfrm>
            <a:off x="609600" y="5476875"/>
            <a:ext cx="1097280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CAFF45"/>
                </a:solidFill>
                <a:latin typeface="Helvetica Neue"/>
                <a:ea typeface="Helvetica Neue"/>
                <a:cs typeface="Helvetica Neue"/>
                <a:sym typeface="Helvetica Neue"/>
              </a:rPr>
              <a:t>RD: read / CL: close / RE: restore entry / EX: exit</a:t>
            </a:r>
            <a:endParaRPr/>
          </a:p>
        </p:txBody>
      </p:sp>
      <p:sp>
        <p:nvSpPr>
          <p:cNvPr id="185" name="Google Shape;185;p21"/>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This trace belongs to the variant</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190" name="Shape 190"/>
        <p:cNvGrpSpPr/>
        <p:nvPr/>
      </p:nvGrpSpPr>
      <p:grpSpPr>
        <a:xfrm>
          <a:off x="0" y="0"/>
          <a:ext cx="0" cy="0"/>
          <a:chOff x="0" y="0"/>
          <a:chExt cx="0" cy="0"/>
        </a:xfrm>
      </p:grpSpPr>
      <p:sp>
        <p:nvSpPr>
          <p:cNvPr id="191" name="Google Shape;191;p22"/>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A jump byte is a weak detector</a:t>
            </a:r>
            <a:endParaRPr/>
          </a:p>
        </p:txBody>
      </p:sp>
      <p:sp>
        <p:nvSpPr>
          <p:cNvPr id="192" name="Google Shape;192;p22"/>
          <p:cNvSpPr/>
          <p:nvPr/>
        </p:nvSpPr>
        <p:spPr>
          <a:xfrm>
            <a:off x="609600" y="2076450"/>
            <a:ext cx="4857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CURRENT TEST</a:t>
            </a:r>
            <a:endParaRPr/>
          </a:p>
        </p:txBody>
      </p:sp>
      <p:sp>
        <p:nvSpPr>
          <p:cNvPr id="193" name="Google Shape;193;p22"/>
          <p:cNvSpPr/>
          <p:nvPr/>
        </p:nvSpPr>
        <p:spPr>
          <a:xfrm>
            <a:off x="609600" y="2857500"/>
            <a:ext cx="4857750" cy="2571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3225">
                <a:solidFill>
                  <a:srgbClr val="F0F0E6"/>
                </a:solidFill>
                <a:latin typeface="Helvetica Neue"/>
                <a:ea typeface="Helvetica Neue"/>
                <a:cs typeface="Helvetica Neue"/>
                <a:sym typeface="Helvetica Neue"/>
              </a:rPr>
              <a:t>First byte is E9</a:t>
            </a:r>
            <a:endParaRPr/>
          </a:p>
        </p:txBody>
      </p:sp>
      <p:sp>
        <p:nvSpPr>
          <p:cNvPr id="194" name="Google Shape;194;p22"/>
          <p:cNvSpPr/>
          <p:nvPr/>
        </p:nvSpPr>
        <p:spPr>
          <a:xfrm>
            <a:off x="6572250" y="2076450"/>
            <a:ext cx="4857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LIMITATION</a:t>
            </a:r>
            <a:endParaRPr/>
          </a:p>
        </p:txBody>
      </p:sp>
      <p:sp>
        <p:nvSpPr>
          <p:cNvPr id="195" name="Google Shape;195;p22"/>
          <p:cNvSpPr/>
          <p:nvPr/>
        </p:nvSpPr>
        <p:spPr>
          <a:xfrm>
            <a:off x="6572250" y="2857500"/>
            <a:ext cx="4857750" cy="2571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3225">
                <a:solidFill>
                  <a:srgbClr val="F0F0E6"/>
                </a:solidFill>
                <a:latin typeface="Helvetica Neue"/>
                <a:ea typeface="Helvetica Neue"/>
                <a:cs typeface="Helvetica Neue"/>
                <a:sym typeface="Helvetica Neue"/>
              </a:rPr>
              <a:t>Legitimate .COM files</a:t>
            </a:r>
            <a:endParaRPr/>
          </a:p>
          <a:p>
            <a:pPr indent="0" lvl="0" marL="0" marR="0" rtl="0" algn="l">
              <a:spcBef>
                <a:spcPts val="0"/>
              </a:spcBef>
              <a:spcAft>
                <a:spcPts val="0"/>
              </a:spcAft>
              <a:buNone/>
            </a:pPr>
            <a:r>
              <a:rPr b="0" lang="en-US" sz="3225">
                <a:solidFill>
                  <a:srgbClr val="F0F0E6"/>
                </a:solidFill>
                <a:latin typeface="Helvetica Neue"/>
                <a:ea typeface="Helvetica Neue"/>
                <a:cs typeface="Helvetica Neue"/>
                <a:sym typeface="Helvetica Neue"/>
              </a:rPr>
              <a:t>can start with a jump</a:t>
            </a:r>
            <a:endParaRPr/>
          </a:p>
        </p:txBody>
      </p:sp>
      <p:sp>
        <p:nvSpPr>
          <p:cNvPr id="196" name="Google Shape;196;p22"/>
          <p:cNvSpPr/>
          <p:nvPr/>
        </p:nvSpPr>
        <p:spPr>
          <a:xfrm>
            <a:off x="609600" y="5943600"/>
            <a:ext cx="10953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75">
                <a:solidFill>
                  <a:srgbClr val="A7B09D"/>
                </a:solidFill>
                <a:latin typeface="Helvetica Neue"/>
                <a:ea typeface="Helvetica Neue"/>
                <a:cs typeface="Helvetica Neue"/>
                <a:sym typeface="Helvetica Neue"/>
              </a:rPr>
              <a:t>A candidate match alone cannot justify rewriting a file.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201" name="Shape 201"/>
        <p:cNvGrpSpPr/>
        <p:nvPr/>
      </p:nvGrpSpPr>
      <p:grpSpPr>
        <a:xfrm>
          <a:off x="0" y="0"/>
          <a:ext cx="0" cy="0"/>
          <a:chOff x="0" y="0"/>
          <a:chExt cx="0" cy="0"/>
        </a:xfrm>
      </p:grpSpPr>
      <p:sp>
        <p:nvSpPr>
          <p:cNvPr id="202" name="Google Shape;202;p23"/>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Recovery deserves a before-and-after test</a:t>
            </a:r>
            <a:endParaRPr/>
          </a:p>
        </p:txBody>
      </p:sp>
      <p:sp>
        <p:nvSpPr>
          <p:cNvPr id="203" name="Google Shape;203;p23"/>
          <p:cNvSpPr/>
          <p:nvPr/>
        </p:nvSpPr>
        <p:spPr>
          <a:xfrm>
            <a:off x="609600" y="1952625"/>
            <a:ext cx="2762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ORIGINAL</a:t>
            </a:r>
            <a:endParaRPr/>
          </a:p>
        </p:txBody>
      </p:sp>
      <p:sp>
        <p:nvSpPr>
          <p:cNvPr id="204" name="Google Shape;204;p23"/>
          <p:cNvSpPr/>
          <p:nvPr/>
        </p:nvSpPr>
        <p:spPr>
          <a:xfrm>
            <a:off x="3476625" y="1952625"/>
            <a:ext cx="8001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475">
                <a:solidFill>
                  <a:srgbClr val="F0F0E6"/>
                </a:solidFill>
                <a:latin typeface="Helvetica Neue"/>
                <a:ea typeface="Helvetica Neue"/>
                <a:cs typeface="Helvetica Neue"/>
                <a:sym typeface="Helvetica Neue"/>
              </a:rPr>
              <a:t>Preserved file and hash</a:t>
            </a:r>
            <a:endParaRPr/>
          </a:p>
        </p:txBody>
      </p:sp>
      <p:sp>
        <p:nvSpPr>
          <p:cNvPr id="205" name="Google Shape;205;p23"/>
          <p:cNvSpPr/>
          <p:nvPr/>
        </p:nvSpPr>
        <p:spPr>
          <a:xfrm>
            <a:off x="609600" y="3190875"/>
            <a:ext cx="2762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CLEANED</a:t>
            </a:r>
            <a:endParaRPr/>
          </a:p>
        </p:txBody>
      </p:sp>
      <p:sp>
        <p:nvSpPr>
          <p:cNvPr id="206" name="Google Shape;206;p23"/>
          <p:cNvSpPr/>
          <p:nvPr/>
        </p:nvSpPr>
        <p:spPr>
          <a:xfrm>
            <a:off x="3476625" y="3190875"/>
            <a:ext cx="8001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475">
                <a:solidFill>
                  <a:srgbClr val="F0F0E6"/>
                </a:solidFill>
                <a:latin typeface="Helvetica Neue"/>
                <a:ea typeface="Helvetica Neue"/>
                <a:cs typeface="Helvetica Neue"/>
                <a:sym typeface="Helvetica Neue"/>
              </a:rPr>
              <a:t>Byte comparison and expected behavior</a:t>
            </a:r>
            <a:endParaRPr/>
          </a:p>
        </p:txBody>
      </p:sp>
      <p:sp>
        <p:nvSpPr>
          <p:cNvPr id="207" name="Google Shape;207;p23"/>
          <p:cNvSpPr/>
          <p:nvPr/>
        </p:nvSpPr>
        <p:spPr>
          <a:xfrm>
            <a:off x="609600" y="4429125"/>
            <a:ext cx="2762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CONTROLS</a:t>
            </a:r>
            <a:endParaRPr/>
          </a:p>
        </p:txBody>
      </p:sp>
      <p:sp>
        <p:nvSpPr>
          <p:cNvPr id="208" name="Google Shape;208;p23"/>
          <p:cNvSpPr/>
          <p:nvPr/>
        </p:nvSpPr>
        <p:spPr>
          <a:xfrm>
            <a:off x="3476625" y="4429125"/>
            <a:ext cx="8001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475">
                <a:solidFill>
                  <a:srgbClr val="F0F0E6"/>
                </a:solidFill>
                <a:latin typeface="Helvetica Neue"/>
                <a:ea typeface="Helvetica Neue"/>
                <a:cs typeface="Helvetica Neue"/>
                <a:sym typeface="Helvetica Neue"/>
              </a:rPr>
              <a:t>Uninfected and unsupported files</a:t>
            </a:r>
            <a:endParaRPr/>
          </a:p>
        </p:txBody>
      </p:sp>
      <p:sp>
        <p:nvSpPr>
          <p:cNvPr id="209" name="Google Shape;209;p23"/>
          <p:cNvSpPr/>
          <p:nvPr/>
        </p:nvSpPr>
        <p:spPr>
          <a:xfrm>
            <a:off x="609600" y="5943600"/>
            <a:ext cx="1095375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75">
                <a:solidFill>
                  <a:srgbClr val="A7B09D"/>
                </a:solidFill>
                <a:latin typeface="Helvetica Neue"/>
                <a:ea typeface="Helvetica Neue"/>
                <a:cs typeface="Helvetica Neue"/>
                <a:sym typeface="Helvetica Neue"/>
              </a:rPr>
              <a:t>Proposed demonstration evidence, not claimed measurements.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214" name="Shape 214"/>
        <p:cNvGrpSpPr/>
        <p:nvPr/>
      </p:nvGrpSpPr>
      <p:grpSpPr>
        <a:xfrm>
          <a:off x="0" y="0"/>
          <a:ext cx="0" cy="0"/>
          <a:chOff x="0" y="0"/>
          <a:chExt cx="0" cy="0"/>
        </a:xfrm>
      </p:grpSpPr>
      <p:pic>
        <p:nvPicPr>
          <p:cNvPr id="215" name="Google Shape;215;p24"/>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220" name="Shape 220"/>
        <p:cNvGrpSpPr/>
        <p:nvPr/>
      </p:nvGrpSpPr>
      <p:grpSpPr>
        <a:xfrm>
          <a:off x="0" y="0"/>
          <a:ext cx="0" cy="0"/>
          <a:chOff x="0" y="0"/>
          <a:chExt cx="0" cy="0"/>
        </a:xfrm>
      </p:grpSpPr>
      <p:graphicFrame>
        <p:nvGraphicFramePr>
          <p:cNvPr id="221" name="Google Shape;221;p25"/>
          <p:cNvGraphicFramePr/>
          <p:nvPr/>
        </p:nvGraphicFramePr>
        <p:xfrm>
          <a:off x="609600" y="1905000"/>
          <a:ext cx="3000000" cy="3000000"/>
        </p:xfrm>
        <a:graphic>
          <a:graphicData uri="http://schemas.openxmlformats.org/drawingml/2006/table">
            <a:tbl>
              <a:tblPr>
                <a:noFill/>
                <a:tableStyleId>{1A666504-75EB-4913-86AC-4C245FBB91B0}</a:tableStyleId>
              </a:tblPr>
              <a:tblGrid>
                <a:gridCol w="3476625"/>
                <a:gridCol w="3476625"/>
                <a:gridCol w="4019550"/>
              </a:tblGrid>
              <a:tr h="809625">
                <a:tc>
                  <a:txBody>
                    <a:bodyPr/>
                    <a:lstStyle/>
                    <a:p>
                      <a:pPr indent="0" lvl="0" marL="0" marR="0" rtl="0" algn="l">
                        <a:spcBef>
                          <a:spcPts val="0"/>
                        </a:spcBef>
                        <a:spcAft>
                          <a:spcPts val="0"/>
                        </a:spcAft>
                        <a:buClr>
                          <a:srgbClr val="CAFF45"/>
                        </a:buClr>
                        <a:buSzPts val="1800"/>
                        <a:buFont typeface="Helvetica Neue"/>
                        <a:buNone/>
                      </a:pPr>
                      <a:r>
                        <a:rPr b="1" lang="en-US" sz="1800">
                          <a:solidFill>
                            <a:srgbClr val="CAFF45"/>
                          </a:solidFill>
                          <a:latin typeface="Helvetica Neue"/>
                          <a:ea typeface="Helvetica Neue"/>
                          <a:cs typeface="Helvetica Neue"/>
                          <a:sym typeface="Helvetica Neue"/>
                        </a:rPr>
                        <a:t>Historical observation</a:t>
                      </a:r>
                      <a:endParaRPr/>
                    </a:p>
                  </a:txBody>
                  <a:tcPr marT="45725" marB="45725" marR="91450" marL="91450">
                    <a:solidFill>
                      <a:srgbClr val="27301E"/>
                    </a:solidFill>
                  </a:tcPr>
                </a:tc>
                <a:tc>
                  <a:txBody>
                    <a:bodyPr/>
                    <a:lstStyle/>
                    <a:p>
                      <a:pPr indent="0" lvl="0" marL="0" marR="0" rtl="0" algn="l">
                        <a:spcBef>
                          <a:spcPts val="0"/>
                        </a:spcBef>
                        <a:spcAft>
                          <a:spcPts val="0"/>
                        </a:spcAft>
                        <a:buClr>
                          <a:srgbClr val="CAFF45"/>
                        </a:buClr>
                        <a:buSzPts val="1800"/>
                        <a:buFont typeface="Helvetica Neue"/>
                        <a:buNone/>
                      </a:pPr>
                      <a:r>
                        <a:rPr b="1" lang="en-US" sz="1800">
                          <a:solidFill>
                            <a:srgbClr val="CAFF45"/>
                          </a:solidFill>
                          <a:latin typeface="Helvetica Neue"/>
                          <a:ea typeface="Helvetica Neue"/>
                          <a:cs typeface="Helvetica Neue"/>
                          <a:sym typeface="Helvetica Neue"/>
                        </a:rPr>
                        <a:t>Modern question</a:t>
                      </a:r>
                      <a:endParaRPr/>
                    </a:p>
                  </a:txBody>
                  <a:tcPr marT="45725" marB="45725" marR="91450" marL="91450">
                    <a:solidFill>
                      <a:srgbClr val="27301E"/>
                    </a:solidFill>
                  </a:tcPr>
                </a:tc>
                <a:tc>
                  <a:txBody>
                    <a:bodyPr/>
                    <a:lstStyle/>
                    <a:p>
                      <a:pPr indent="0" lvl="0" marL="0" marR="0" rtl="0" algn="l">
                        <a:spcBef>
                          <a:spcPts val="0"/>
                        </a:spcBef>
                        <a:spcAft>
                          <a:spcPts val="0"/>
                        </a:spcAft>
                        <a:buClr>
                          <a:srgbClr val="CAFF45"/>
                        </a:buClr>
                        <a:buSzPts val="1800"/>
                        <a:buFont typeface="Helvetica Neue"/>
                        <a:buNone/>
                      </a:pPr>
                      <a:r>
                        <a:rPr b="1" lang="en-US" sz="1800">
                          <a:solidFill>
                            <a:srgbClr val="CAFF45"/>
                          </a:solidFill>
                          <a:latin typeface="Helvetica Neue"/>
                          <a:ea typeface="Helvetica Neue"/>
                          <a:cs typeface="Helvetica Neue"/>
                          <a:sym typeface="Helvetica Neue"/>
                        </a:rPr>
                        <a:t>Evidence to seek</a:t>
                      </a:r>
                      <a:endParaRPr/>
                    </a:p>
                  </a:txBody>
                  <a:tcPr marT="45725" marB="45725" marR="91450" marL="91450">
                    <a:solidFill>
                      <a:srgbClr val="27301E"/>
                    </a:solidFill>
                  </a:tcPr>
                </a:tc>
              </a:tr>
              <a:tr h="809625">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Execution path changes</a:t>
                      </a:r>
                      <a:endParaRPr/>
                    </a:p>
                  </a:txBody>
                  <a:tcPr marT="45725" marB="45725" marR="91450" marL="91450">
                    <a:solidFill>
                      <a:srgbClr val="101310"/>
                    </a:solidFill>
                  </a:tcPr>
                </a:tc>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Who altered execution?</a:t>
                      </a:r>
                      <a:endParaRPr/>
                    </a:p>
                  </a:txBody>
                  <a:tcPr marT="45725" marB="45725" marR="91450" marL="91450">
                    <a:solidFill>
                      <a:srgbClr val="101310"/>
                    </a:solidFill>
                  </a:tcPr>
                </a:tc>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Provenance and</a:t>
                      </a:r>
                      <a:endParaRPr/>
                    </a:p>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state difference</a:t>
                      </a:r>
                      <a:endParaRPr/>
                    </a:p>
                  </a:txBody>
                  <a:tcPr marT="45725" marB="45725" marR="91450" marL="91450">
                    <a:solidFill>
                      <a:srgbClr val="101310"/>
                    </a:solidFill>
                  </a:tcPr>
                </a:tc>
              </a:tr>
              <a:tr h="809625">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Marker in a file</a:t>
                      </a:r>
                      <a:endParaRPr/>
                    </a:p>
                  </a:txBody>
                  <a:tcPr marT="45725" marB="45725" marR="91450" marL="91450">
                    <a:solidFill>
                      <a:srgbClr val="101310"/>
                    </a:solidFill>
                  </a:tcPr>
                </a:tc>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What does it establish?</a:t>
                      </a:r>
                      <a:endParaRPr/>
                    </a:p>
                  </a:txBody>
                  <a:tcPr marT="45725" marB="45725" marR="91450" marL="91450">
                    <a:solidFill>
                      <a:srgbClr val="101310"/>
                    </a:solidFill>
                  </a:tcPr>
                </a:tc>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Content plus context</a:t>
                      </a:r>
                      <a:endParaRPr/>
                    </a:p>
                  </a:txBody>
                  <a:tcPr marT="45725" marB="45725" marR="91450" marL="91450">
                    <a:solidFill>
                      <a:srgbClr val="101310"/>
                    </a:solidFill>
                  </a:tcPr>
                </a:tc>
              </a:tr>
              <a:tr h="809625">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Host behavior resumes</a:t>
                      </a:r>
                      <a:endParaRPr/>
                    </a:p>
                  </a:txBody>
                  <a:tcPr marT="45725" marB="45725" marR="91450" marL="91450">
                    <a:solidFill>
                      <a:srgbClr val="101310"/>
                    </a:solidFill>
                  </a:tcPr>
                </a:tc>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What happened first?</a:t>
                      </a:r>
                      <a:endParaRPr/>
                    </a:p>
                  </a:txBody>
                  <a:tcPr marT="45725" marB="45725" marR="91450" marL="91450">
                    <a:solidFill>
                      <a:srgbClr val="101310"/>
                    </a:solidFill>
                  </a:tcPr>
                </a:tc>
                <a:tc>
                  <a:txBody>
                    <a:bodyPr/>
                    <a:lstStyle/>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Event sequence and</a:t>
                      </a:r>
                      <a:endParaRPr/>
                    </a:p>
                    <a:p>
                      <a:pPr indent="0" lvl="0" marL="0" marR="0" rtl="0" algn="l">
                        <a:spcBef>
                          <a:spcPts val="0"/>
                        </a:spcBef>
                        <a:spcAft>
                          <a:spcPts val="0"/>
                        </a:spcAft>
                        <a:buClr>
                          <a:srgbClr val="F0F0E6"/>
                        </a:buClr>
                        <a:buSzPts val="2025"/>
                        <a:buFont typeface="Helvetica Neue"/>
                        <a:buNone/>
                      </a:pPr>
                      <a:r>
                        <a:rPr b="0" lang="en-US" sz="2025">
                          <a:solidFill>
                            <a:srgbClr val="F0F0E6"/>
                          </a:solidFill>
                          <a:latin typeface="Helvetica Neue"/>
                          <a:ea typeface="Helvetica Neue"/>
                          <a:cs typeface="Helvetica Neue"/>
                          <a:sym typeface="Helvetica Neue"/>
                        </a:rPr>
                        <a:t>process lineage</a:t>
                      </a:r>
                      <a:endParaRPr/>
                    </a:p>
                  </a:txBody>
                  <a:tcPr marT="45725" marB="45725" marR="91450" marL="91450">
                    <a:solidFill>
                      <a:srgbClr val="101310"/>
                    </a:solidFill>
                  </a:tcPr>
                </a:tc>
              </a:tr>
            </a:tbl>
          </a:graphicData>
        </a:graphic>
      </p:graphicFrame>
      <p:sp>
        <p:nvSpPr>
          <p:cNvPr id="222" name="Google Shape;222;p25"/>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Modern parallels: evidence survives the era</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227" name="Shape 227"/>
        <p:cNvGrpSpPr/>
        <p:nvPr/>
      </p:nvGrpSpPr>
      <p:grpSpPr>
        <a:xfrm>
          <a:off x="0" y="0"/>
          <a:ext cx="0" cy="0"/>
          <a:chOff x="0" y="0"/>
          <a:chExt cx="0" cy="0"/>
        </a:xfrm>
      </p:grpSpPr>
      <p:sp>
        <p:nvSpPr>
          <p:cNvPr id="228" name="Google Shape;228;p26"/>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What the reconstruction taught me</a:t>
            </a:r>
            <a:endParaRPr/>
          </a:p>
        </p:txBody>
      </p:sp>
      <p:sp>
        <p:nvSpPr>
          <p:cNvPr id="229" name="Google Shape;229;p26"/>
          <p:cNvSpPr/>
          <p:nvPr/>
        </p:nvSpPr>
        <p:spPr>
          <a:xfrm>
            <a:off x="609600" y="1952625"/>
            <a:ext cx="2762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SOURCE</a:t>
            </a:r>
            <a:endParaRPr/>
          </a:p>
        </p:txBody>
      </p:sp>
      <p:sp>
        <p:nvSpPr>
          <p:cNvPr id="230" name="Google Shape;230;p26"/>
          <p:cNvSpPr/>
          <p:nvPr/>
        </p:nvSpPr>
        <p:spPr>
          <a:xfrm>
            <a:off x="3476625" y="1952625"/>
            <a:ext cx="8001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475">
                <a:solidFill>
                  <a:srgbClr val="F0F0E6"/>
                </a:solidFill>
                <a:latin typeface="Helvetica Neue"/>
                <a:ea typeface="Helvetica Neue"/>
                <a:cs typeface="Helvetica Neue"/>
                <a:sym typeface="Helvetica Neue"/>
              </a:rPr>
              <a:t>A plausible transcription can still be wrong</a:t>
            </a:r>
            <a:endParaRPr/>
          </a:p>
        </p:txBody>
      </p:sp>
      <p:sp>
        <p:nvSpPr>
          <p:cNvPr id="231" name="Google Shape;231;p26"/>
          <p:cNvSpPr/>
          <p:nvPr/>
        </p:nvSpPr>
        <p:spPr>
          <a:xfrm>
            <a:off x="609600" y="3190875"/>
            <a:ext cx="2762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LAB</a:t>
            </a:r>
            <a:endParaRPr/>
          </a:p>
        </p:txBody>
      </p:sp>
      <p:sp>
        <p:nvSpPr>
          <p:cNvPr id="232" name="Google Shape;232;p26"/>
          <p:cNvSpPr/>
          <p:nvPr/>
        </p:nvSpPr>
        <p:spPr>
          <a:xfrm>
            <a:off x="3476625" y="3190875"/>
            <a:ext cx="8001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475">
                <a:solidFill>
                  <a:srgbClr val="F0F0E6"/>
                </a:solidFill>
                <a:latin typeface="Helvetica Neue"/>
                <a:ea typeface="Helvetica Neue"/>
                <a:cs typeface="Helvetica Neue"/>
                <a:sym typeface="Helvetica Neue"/>
              </a:rPr>
              <a:t>A visible stage is stronger than a guess</a:t>
            </a:r>
            <a:endParaRPr/>
          </a:p>
        </p:txBody>
      </p:sp>
      <p:sp>
        <p:nvSpPr>
          <p:cNvPr id="233" name="Google Shape;233;p26"/>
          <p:cNvSpPr/>
          <p:nvPr/>
        </p:nvSpPr>
        <p:spPr>
          <a:xfrm>
            <a:off x="609600" y="4429125"/>
            <a:ext cx="2762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875">
                <a:solidFill>
                  <a:srgbClr val="CAFF45"/>
                </a:solidFill>
                <a:latin typeface="Helvetica Neue"/>
                <a:ea typeface="Helvetica Neue"/>
                <a:cs typeface="Helvetica Neue"/>
                <a:sym typeface="Helvetica Neue"/>
              </a:rPr>
              <a:t>DEFENSE</a:t>
            </a:r>
            <a:endParaRPr/>
          </a:p>
        </p:txBody>
      </p:sp>
      <p:sp>
        <p:nvSpPr>
          <p:cNvPr id="234" name="Google Shape;234;p26"/>
          <p:cNvSpPr/>
          <p:nvPr/>
        </p:nvSpPr>
        <p:spPr>
          <a:xfrm>
            <a:off x="3476625" y="4429125"/>
            <a:ext cx="8001000" cy="876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475">
                <a:solidFill>
                  <a:srgbClr val="F0F0E6"/>
                </a:solidFill>
                <a:latin typeface="Helvetica Neue"/>
                <a:ea typeface="Helvetica Neue"/>
                <a:cs typeface="Helvetica Neue"/>
                <a:sym typeface="Helvetica Neue"/>
              </a:rPr>
              <a:t>Cleaning needs evidence of recovery</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01310"/>
        </a:solidFill>
      </p:bgPr>
    </p:bg>
    <p:spTree>
      <p:nvGrpSpPr>
        <p:cNvPr id="239" name="Shape 239"/>
        <p:cNvGrpSpPr/>
        <p:nvPr/>
      </p:nvGrpSpPr>
      <p:grpSpPr>
        <a:xfrm>
          <a:off x="0" y="0"/>
          <a:ext cx="0" cy="0"/>
          <a:chOff x="0" y="0"/>
          <a:chExt cx="0" cy="0"/>
        </a:xfrm>
      </p:grpSpPr>
      <p:pic>
        <p:nvPicPr>
          <p:cNvPr id="240" name="Google Shape;240;p27"/>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
        <p:nvSpPr>
          <p:cNvPr id="241" name="Google Shape;241;p27"/>
          <p:cNvSpPr/>
          <p:nvPr/>
        </p:nvSpPr>
        <p:spPr>
          <a:xfrm>
            <a:off x="609600" y="457200"/>
            <a:ext cx="10972800" cy="1190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450">
                <a:solidFill>
                  <a:srgbClr val="F0F0E6"/>
                </a:solidFill>
                <a:latin typeface="Helvetica Neue"/>
                <a:ea typeface="Helvetica Neue"/>
                <a:cs typeface="Helvetica Neue"/>
                <a:sym typeface="Helvetica Neue"/>
              </a:rPr>
              <a:t>Rebuilt. Inspected. Detected. Cleaned.</a:t>
            </a:r>
            <a:endParaRPr/>
          </a:p>
        </p:txBody>
      </p:sp>
      <p:sp>
        <p:nvSpPr>
          <p:cNvPr id="242" name="Google Shape;242;p27"/>
          <p:cNvSpPr/>
          <p:nvPr/>
        </p:nvSpPr>
        <p:spPr>
          <a:xfrm>
            <a:off x="609600" y="2171700"/>
            <a:ext cx="7239000" cy="2381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4350">
                <a:solidFill>
                  <a:srgbClr val="CAFF45"/>
                </a:solidFill>
                <a:latin typeface="Helvetica Neue"/>
                <a:ea typeface="Helvetica Neue"/>
                <a:cs typeface="Helvetica Neue"/>
                <a:sym typeface="Helvetica Neue"/>
              </a:rPr>
              <a:t>Old code.</a:t>
            </a:r>
            <a:endParaRPr/>
          </a:p>
          <a:p>
            <a:pPr indent="0" lvl="0" marL="0" marR="0" rtl="0" algn="l">
              <a:spcBef>
                <a:spcPts val="0"/>
              </a:spcBef>
              <a:spcAft>
                <a:spcPts val="0"/>
              </a:spcAft>
              <a:buNone/>
            </a:pPr>
            <a:r>
              <a:rPr b="1" lang="en-US" sz="4350">
                <a:solidFill>
                  <a:srgbClr val="CAFF45"/>
                </a:solidFill>
                <a:latin typeface="Helvetica Neue"/>
                <a:ea typeface="Helvetica Neue"/>
                <a:cs typeface="Helvetica Neue"/>
                <a:sym typeface="Helvetica Neue"/>
              </a:rPr>
              <a:t>Very current questions.</a:t>
            </a:r>
            <a:endParaRPr/>
          </a:p>
        </p:txBody>
      </p:sp>
      <p:sp>
        <p:nvSpPr>
          <p:cNvPr id="243" name="Google Shape;243;p27"/>
          <p:cNvSpPr/>
          <p:nvPr/>
        </p:nvSpPr>
        <p:spPr>
          <a:xfrm>
            <a:off x="647700" y="5048250"/>
            <a:ext cx="6667500" cy="1143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F0F0E6"/>
                </a:solidFill>
                <a:latin typeface="Helvetica Neue"/>
                <a:ea typeface="Helvetica Neue"/>
                <a:cs typeface="Helvetica Neue"/>
                <a:sym typeface="Helvetica Neue"/>
              </a:rPr>
              <a:t>Charley Pfaff</a:t>
            </a:r>
            <a:endParaRPr/>
          </a:p>
          <a:p>
            <a:pPr indent="0" lvl="0" marL="0" marR="0" rtl="0" algn="l">
              <a:spcBef>
                <a:spcPts val="0"/>
              </a:spcBef>
              <a:spcAft>
                <a:spcPts val="0"/>
              </a:spcAft>
              <a:buNone/>
            </a:pPr>
            <a:r>
              <a:rPr b="0" lang="en-US" sz="2025">
                <a:solidFill>
                  <a:srgbClr val="F0F0E6"/>
                </a:solidFill>
                <a:latin typeface="Helvetica Neue"/>
                <a:ea typeface="Helvetica Neue"/>
                <a:cs typeface="Helvetica Neue"/>
                <a:sym typeface="Helvetica Neue"/>
              </a:rPr>
              <a:t>Questions</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