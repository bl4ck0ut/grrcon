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c6caa612134b33" /><Relationship Type="http://schemas.openxmlformats.org/officeDocument/2006/relationships/extended-properties" Target="/docProps/app.xml" Id="Rfaa69a2d36b74a88" /><Relationship Type="http://schemas.openxmlformats.org/officeDocument/2006/relationships/officeDocument" Target="/ppt/presentation.xml" Id="Rb42d2d9a5d4c473f" /></Relationships>
</file>

<file path=ppt/presentation.xml><?xml version="1.0" encoding="utf-8"?>
<p:presentation xmlns:p="http://schemas.openxmlformats.org/presentationml/2006/main">
  <p:sldMasterIdLst>
    <p:sldMasterId xmlns:r="http://schemas.openxmlformats.org/officeDocument/2006/relationships" id="2147483648" r:id="R3baf4f2aee9446b5"/>
  </p:sldMasterIdLst>
  <p:notesMasterIdLst>
    <p:notesMasterId xmlns:r="http://schemas.openxmlformats.org/officeDocument/2006/relationships" r:id="R9c714d7f8de04ac0"/>
  </p:notesMasterIdLst>
  <p:sldIdLst>
    <p:sldId xmlns:r="http://schemas.openxmlformats.org/officeDocument/2006/relationships" id="256" r:id="R73b5e109dc3040b5"/>
    <p:sldId xmlns:r="http://schemas.openxmlformats.org/officeDocument/2006/relationships" id="257" r:id="R8e840a56079d4f2a"/>
    <p:sldId xmlns:r="http://schemas.openxmlformats.org/officeDocument/2006/relationships" id="258" r:id="R3ce0293ca8664599"/>
    <p:sldId xmlns:r="http://schemas.openxmlformats.org/officeDocument/2006/relationships" id="259" r:id="Rad8ff980037e4cef"/>
    <p:sldId xmlns:r="http://schemas.openxmlformats.org/officeDocument/2006/relationships" id="260" r:id="R164e0200a2a1427c"/>
    <p:sldId xmlns:r="http://schemas.openxmlformats.org/officeDocument/2006/relationships" id="261" r:id="R814d2eb897dd44dd"/>
    <p:sldId xmlns:r="http://schemas.openxmlformats.org/officeDocument/2006/relationships" id="262" r:id="Rc85c2b8edb5f4292"/>
    <p:sldId xmlns:r="http://schemas.openxmlformats.org/officeDocument/2006/relationships" id="263" r:id="R36b7240dbe1f4639"/>
    <p:sldId xmlns:r="http://schemas.openxmlformats.org/officeDocument/2006/relationships" id="264" r:id="R81f04ff036894eba"/>
    <p:sldId xmlns:r="http://schemas.openxmlformats.org/officeDocument/2006/relationships" id="265" r:id="R617a44f10fc34732"/>
    <p:sldId xmlns:r="http://schemas.openxmlformats.org/officeDocument/2006/relationships" id="266" r:id="R246a10f3219b4781"/>
    <p:sldId xmlns:r="http://schemas.openxmlformats.org/officeDocument/2006/relationships" id="267" r:id="Rf6ab6623ece34eaa"/>
    <p:sldId xmlns:r="http://schemas.openxmlformats.org/officeDocument/2006/relationships" id="268" r:id="R1e1774c60bae430a"/>
    <p:sldId xmlns:r="http://schemas.openxmlformats.org/officeDocument/2006/relationships" id="269" r:id="R187f999b993949aa"/>
    <p:sldId xmlns:r="http://schemas.openxmlformats.org/officeDocument/2006/relationships" id="270" r:id="Rc8c5f26670344e70"/>
    <p:sldId xmlns:r="http://schemas.openxmlformats.org/officeDocument/2006/relationships" id="271" r:id="R4c2d175f6f6a404e"/>
    <p:sldId xmlns:r="http://schemas.openxmlformats.org/officeDocument/2006/relationships" id="272" r:id="Rb8dd5dd0f3e14975"/>
    <p:sldId xmlns:r="http://schemas.openxmlformats.org/officeDocument/2006/relationships" id="273" r:id="Rb4da7d9d08774101"/>
    <p:sldId xmlns:r="http://schemas.openxmlformats.org/officeDocument/2006/relationships" id="274" r:id="R48bf0c4ab619495d"/>
    <p:sldId xmlns:r="http://schemas.openxmlformats.org/officeDocument/2006/relationships" id="275" r:id="R0a83a260ae564819"/>
    <p:sldId xmlns:r="http://schemas.openxmlformats.org/officeDocument/2006/relationships" id="276" r:id="R99e9e86a06df455f"/>
    <p:sldId xmlns:r="http://schemas.openxmlformats.org/officeDocument/2006/relationships" id="277" r:id="R89757b9a01594b86"/>
    <p:sldId xmlns:r="http://schemas.openxmlformats.org/officeDocument/2006/relationships" id="278" r:id="R0a5f1869e8e14cfc"/>
    <p:sldId xmlns:r="http://schemas.openxmlformats.org/officeDocument/2006/relationships" id="279" r:id="R35d9a12366c744ca"/>
    <p:sldId xmlns:r="http://schemas.openxmlformats.org/officeDocument/2006/relationships" id="280" r:id="R87286c4c1e734581"/>
    <p:sldId xmlns:r="http://schemas.openxmlformats.org/officeDocument/2006/relationships" id="281" r:id="R54c8d03d4b074768"/>
    <p:sldId xmlns:r="http://schemas.openxmlformats.org/officeDocument/2006/relationships" id="282" r:id="R73f121a1771842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feb8b13c514afe" /><Relationship Type="http://schemas.openxmlformats.org/officeDocument/2006/relationships/slideMaster" Target="/ppt/slideMasters/slideMaster1.xml" Id="R3baf4f2aee9446b5" /><Relationship Type="http://schemas.openxmlformats.org/officeDocument/2006/relationships/notesMaster" Target="/ppt/notesMasters/notesMaster1.xml" Id="R9c714d7f8de04ac0" /><Relationship Type="http://schemas.openxmlformats.org/officeDocument/2006/relationships/presProps" Target="/ppt/presProps.xml" Id="Rdbe347a90b6b4148" /><Relationship Type="http://schemas.openxmlformats.org/officeDocument/2006/relationships/tableStyles" Target="/ppt/tableStyles.xml" Id="R477300d973a64e15" /><Relationship Type="http://schemas.openxmlformats.org/officeDocument/2006/relationships/slide" Target="/ppt/slides/slide1.xml" Id="R73b5e109dc3040b5" /><Relationship Type="http://schemas.openxmlformats.org/officeDocument/2006/relationships/slide" Target="/ppt/slides/slide2.xml" Id="R8e840a56079d4f2a" /><Relationship Type="http://schemas.openxmlformats.org/officeDocument/2006/relationships/slide" Target="/ppt/slides/slide3.xml" Id="R3ce0293ca8664599" /><Relationship Type="http://schemas.openxmlformats.org/officeDocument/2006/relationships/slide" Target="/ppt/slides/slide4.xml" Id="Rad8ff980037e4cef" /><Relationship Type="http://schemas.openxmlformats.org/officeDocument/2006/relationships/slide" Target="/ppt/slides/slide5.xml" Id="R164e0200a2a1427c" /><Relationship Type="http://schemas.openxmlformats.org/officeDocument/2006/relationships/slide" Target="/ppt/slides/slide6.xml" Id="R814d2eb897dd44dd" /><Relationship Type="http://schemas.openxmlformats.org/officeDocument/2006/relationships/slide" Target="/ppt/slides/slide7.xml" Id="Rc85c2b8edb5f4292" /><Relationship Type="http://schemas.openxmlformats.org/officeDocument/2006/relationships/slide" Target="/ppt/slides/slide8.xml" Id="R36b7240dbe1f4639" /><Relationship Type="http://schemas.openxmlformats.org/officeDocument/2006/relationships/slide" Target="/ppt/slides/slide9.xml" Id="R81f04ff036894eba" /><Relationship Type="http://schemas.openxmlformats.org/officeDocument/2006/relationships/slide" Target="/ppt/slides/slide10.xml" Id="R617a44f10fc34732" /><Relationship Type="http://schemas.openxmlformats.org/officeDocument/2006/relationships/slide" Target="/ppt/slides/slide11.xml" Id="R246a10f3219b4781" /><Relationship Type="http://schemas.openxmlformats.org/officeDocument/2006/relationships/slide" Target="/ppt/slides/slide12.xml" Id="Rf6ab6623ece34eaa" /><Relationship Type="http://schemas.openxmlformats.org/officeDocument/2006/relationships/slide" Target="/ppt/slides/slide13.xml" Id="R1e1774c60bae430a" /><Relationship Type="http://schemas.openxmlformats.org/officeDocument/2006/relationships/slide" Target="/ppt/slides/slide14.xml" Id="R187f999b993949aa" /><Relationship Type="http://schemas.openxmlformats.org/officeDocument/2006/relationships/slide" Target="/ppt/slides/slide15.xml" Id="Rc8c5f26670344e70" /><Relationship Type="http://schemas.openxmlformats.org/officeDocument/2006/relationships/slide" Target="/ppt/slides/slide16.xml" Id="R4c2d175f6f6a404e" /><Relationship Type="http://schemas.openxmlformats.org/officeDocument/2006/relationships/slide" Target="/ppt/slides/slide17.xml" Id="Rb8dd5dd0f3e14975" /><Relationship Type="http://schemas.openxmlformats.org/officeDocument/2006/relationships/slide" Target="/ppt/slides/slide18.xml" Id="Rb4da7d9d08774101" /><Relationship Type="http://schemas.openxmlformats.org/officeDocument/2006/relationships/slide" Target="/ppt/slides/slide19.xml" Id="R48bf0c4ab619495d" /><Relationship Type="http://schemas.openxmlformats.org/officeDocument/2006/relationships/slide" Target="/ppt/slides/slide20.xml" Id="R0a83a260ae564819" /><Relationship Type="http://schemas.openxmlformats.org/officeDocument/2006/relationships/slide" Target="/ppt/slides/slide21.xml" Id="R99e9e86a06df455f" /><Relationship Type="http://schemas.openxmlformats.org/officeDocument/2006/relationships/slide" Target="/ppt/slides/slide22.xml" Id="R89757b9a01594b86" /><Relationship Type="http://schemas.openxmlformats.org/officeDocument/2006/relationships/slide" Target="/ppt/slides/slide23.xml" Id="R0a5f1869e8e14cfc" /><Relationship Type="http://schemas.openxmlformats.org/officeDocument/2006/relationships/slide" Target="/ppt/slides/slide24.xml" Id="R35d9a12366c744ca" /><Relationship Type="http://schemas.openxmlformats.org/officeDocument/2006/relationships/slide" Target="/ppt/slides/slide25.xml" Id="R87286c4c1e734581" /><Relationship Type="http://schemas.openxmlformats.org/officeDocument/2006/relationships/slide" Target="/ppt/slides/slide26.xml" Id="R54c8d03d4b074768" /><Relationship Type="http://schemas.openxmlformats.org/officeDocument/2006/relationships/slide" Target="/ppt/slides/slide27.xml" Id="R73f121a1771842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267af1613c40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b8cab600e643ed" /><Relationship Type="http://schemas.openxmlformats.org/officeDocument/2006/relationships/notesMaster" Target="/ppt/notesMasters/notesMaster1.xml" Id="R18705495a9e24d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6b61c2bf414652" /><Relationship Type="http://schemas.openxmlformats.org/officeDocument/2006/relationships/notesMaster" Target="/ppt/notesMasters/notesMaster1.xml" Id="Rb10c2308522949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1b48b2f2474d7f" /><Relationship Type="http://schemas.openxmlformats.org/officeDocument/2006/relationships/notesMaster" Target="/ppt/notesMasters/notesMaster1.xml" Id="R7b33c368202e4b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8dd719c773438b" /><Relationship Type="http://schemas.openxmlformats.org/officeDocument/2006/relationships/notesMaster" Target="/ppt/notesMasters/notesMaster1.xml" Id="R9f505bd87a2d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ecdd4f39a341da" /><Relationship Type="http://schemas.openxmlformats.org/officeDocument/2006/relationships/notesMaster" Target="/ppt/notesMasters/notesMaster1.xml" Id="Re19644b14c3640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2b6576af334e78" /><Relationship Type="http://schemas.openxmlformats.org/officeDocument/2006/relationships/notesMaster" Target="/ppt/notesMasters/notesMaster1.xml" Id="R48daa9b63cfc48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4c910981334ac4" /><Relationship Type="http://schemas.openxmlformats.org/officeDocument/2006/relationships/notesMaster" Target="/ppt/notesMasters/notesMaster1.xml" Id="Rd1fbcf0108a445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f3c9f0e4404317" /><Relationship Type="http://schemas.openxmlformats.org/officeDocument/2006/relationships/notesMaster" Target="/ppt/notesMasters/notesMaster1.xml" Id="R0d17f76187d349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98fcb1f0374eef" /><Relationship Type="http://schemas.openxmlformats.org/officeDocument/2006/relationships/notesMaster" Target="/ppt/notesMasters/notesMaster1.xml" Id="Rb1fa1c3216924f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2415bcdd1d40a4" /><Relationship Type="http://schemas.openxmlformats.org/officeDocument/2006/relationships/notesMaster" Target="/ppt/notesMasters/notesMaster1.xml" Id="Rd4539581e3304c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5f3c878bd74839" /><Relationship Type="http://schemas.openxmlformats.org/officeDocument/2006/relationships/notesMaster" Target="/ppt/notesMasters/notesMaster1.xml" Id="R02bd33e5519443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5b3b7ef0594eaa" /><Relationship Type="http://schemas.openxmlformats.org/officeDocument/2006/relationships/notesMaster" Target="/ppt/notesMasters/notesMaster1.xml" Id="R77f9fc50378f44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673f707fc047b3" /><Relationship Type="http://schemas.openxmlformats.org/officeDocument/2006/relationships/notesMaster" Target="/ppt/notesMasters/notesMaster1.xml" Id="R3cdb28ef0d1d4b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f82656d1e24d86" /><Relationship Type="http://schemas.openxmlformats.org/officeDocument/2006/relationships/notesMaster" Target="/ppt/notesMasters/notesMaster1.xml" Id="Rac8ab54981904d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9c28eec80d409f" /><Relationship Type="http://schemas.openxmlformats.org/officeDocument/2006/relationships/notesMaster" Target="/ppt/notesMasters/notesMaster1.xml" Id="R6e936bf20e8645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ffe12e948c4ceb" /><Relationship Type="http://schemas.openxmlformats.org/officeDocument/2006/relationships/notesMaster" Target="/ppt/notesMasters/notesMaster1.xml" Id="R6a2976132a054c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2844877db94d0c" /><Relationship Type="http://schemas.openxmlformats.org/officeDocument/2006/relationships/notesMaster" Target="/ppt/notesMasters/notesMaster1.xml" Id="R7145a64c316347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164a5d9e284e8c" /><Relationship Type="http://schemas.openxmlformats.org/officeDocument/2006/relationships/notesMaster" Target="/ppt/notesMasters/notesMaster1.xml" Id="Re1b6fad8185d42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5c8d38e0354335" /><Relationship Type="http://schemas.openxmlformats.org/officeDocument/2006/relationships/notesMaster" Target="/ppt/notesMasters/notesMaster1.xml" Id="R1244bf82c19649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0dd2736e224392" /><Relationship Type="http://schemas.openxmlformats.org/officeDocument/2006/relationships/notesMaster" Target="/ppt/notesMasters/notesMaster1.xml" Id="R29af542a979e49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8d6059403c4dc5" /><Relationship Type="http://schemas.openxmlformats.org/officeDocument/2006/relationships/notesMaster" Target="/ppt/notesMasters/notesMaster1.xml" Id="Rf4ba39d161ce4b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3b316079ad4735" /><Relationship Type="http://schemas.openxmlformats.org/officeDocument/2006/relationships/notesMaster" Target="/ppt/notesMasters/notesMaster1.xml" Id="R65cf5d82ea8f483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f54d66f9f24d7a" /><Relationship Type="http://schemas.openxmlformats.org/officeDocument/2006/relationships/notesMaster" Target="/ppt/notesMasters/notesMaster1.xml" Id="R0eaf9e8d27f943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70b617a95a4687" /><Relationship Type="http://schemas.openxmlformats.org/officeDocument/2006/relationships/notesMaster" Target="/ppt/notesMasters/notesMaster1.xml" Id="R345d0100dcb04c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22b393aeb545db" /><Relationship Type="http://schemas.openxmlformats.org/officeDocument/2006/relationships/notesMaster" Target="/ppt/notesMasters/notesMaster1.xml" Id="R5d562ce909dd4b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4c3fe94e24465f" /><Relationship Type="http://schemas.openxmlformats.org/officeDocument/2006/relationships/notesMaster" Target="/ppt/notesMasters/notesMaster1.xml" Id="R3a547d8b16a24ed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747fd5490c4f03" /><Relationship Type="http://schemas.openxmlformats.org/officeDocument/2006/relationships/notesMaster" Target="/ppt/notesMasters/notesMaster1.xml" Id="R1ab6d23e9a3a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0:00–0:30 · 30 seconds</a:t>
            </a:r>
          </a:p>
          <a:p xmlns:a="http://schemas.openxmlformats.org/drawingml/2006/main">
            <a:r>
              <a:t/>
            </a:r>
          </a:p>
          <a:p xmlns:a="http://schemas.openxmlformats.org/drawingml/2006/main">
            <a:r>
              <a:t>Title and introduction: Charley Pfaff, GrrCON. Reconstructing a 1992 Virus to Understand Modern Malware. Give a brief introduction, then move directly to the DOS demonstration on the next slide.</a:t>
            </a:r>
          </a:p>
          <a:p xmlns:a="http://schemas.openxmlformats.org/drawingml/2006/main">
            <a:r>
              <a:t/>
            </a:r>
          </a:p>
          <a:p xmlns:a="http://schemas.openxmlformats.org/drawingml/2006/main">
            <a:r>
              <a:t>VISUAL: AI-generated conceptual illustration. It does not depict the actual source or lab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0:30–3:30 · 180 seconds</a:t>
            </a:r>
          </a:p>
          <a:p xmlns:a="http://schemas.openxmlformats.org/drawingml/2006/main">
            <a:r>
              <a:t/>
            </a:r>
          </a:p>
          <a:p xmlns:a="http://schemas.openxmlformats.org/drawingml/2006/main">
            <a:r>
              <a:t>OPENING DEMO: 3:00. Begin directly with the demonstration, before explaining the project. Stage a person working at a DOS machine or emulator: 0:00–0:45 ordinary directory navigation and routine work. 0:45–1:15 show mounting or attaching the prepared disposable lab drive in the actual VM or emulator interface. Mounting is environment-specific, not a universal DOS command. 1:15–2:15 show the FIND.COM utility being executed on that lab drive. 2:15–2:45 hold on its real output and observed file changes. 2:45–3:00 transition: What did it take to reconstruct this from a magazine? Use the actual tool name and actual result from a prepared recording or live isolated demonstration. The user selected FIND.COM. A recording has not been supplied, so this slide is a demo cue rather than embedded footage. Do not invent a successful outcome. If using the file-finding utility, distinguish the supplied first-match build from the intended all-files listing. Speaker introduction can be one sentence during the transition: Charley Pfaff, Reconstructing a 1992 Virus to Understand Modern Malware, GrrCON.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3:30–3:40 · 10 seconds</a:t>
            </a:r>
          </a:p>
          <a:p xmlns:a="http://schemas.openxmlformats.org/drawingml/2006/main">
            <a:r>
              <a:t/>
            </a:r>
          </a:p>
          <a:p xmlns:a="http://schemas.openxmlformats.org/drawingml/2006/main">
            <a:r>
              <a:t>Brief reaction beat after the opening DOS demonstration. Let the Cousin!! joke land, then transition to Why do this? Visual: AI-generated fan-art meme depicting Richie from The Bear, not an actual frame from the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3:40–4:45 · 65 seconds</a:t>
            </a:r>
          </a:p>
          <a:p xmlns:a="http://schemas.openxmlformats.org/drawingml/2006/main">
            <a:r>
              <a:t/>
            </a:r>
          </a:p>
          <a:p xmlns:a="http://schemas.openxmlformats.org/drawingml/2006/main">
            <a:r>
              <a:t>Explain your motives after the audience has seen the demo. Historical COM infectors supply the context: Vienna searched for another file when an infected program ran, and Cascade is known for infecting COM files and its falling-letter display in some versions. These examples are historical context, not identifications of your sample. Your starting point was a publicly printed listing from 2600, Spring 1992, rather than a newly invented design. Ask how difficult it would be to turn the page into working, understood code. Close with your own playful line: History repeats itself. I wanted to single-step it. This is original talk copy, not a quotation attributed to a historian.</a:t>
            </a:r>
          </a:p>
          <a:p xmlns:a="http://schemas.openxmlformats.org/drawingml/2006/main">
            <a:r>
              <a:t/>
            </a:r>
          </a:p>
          <a:p xmlns:a="http://schemas.openxmlformats.org/drawingml/2006/main">
            <a:r>
              <a:t>SOURCES</a:t>
            </a:r>
          </a:p>
          <a:p xmlns:a="http://schemas.openxmlformats.org/drawingml/2006/main">
            <a:r>
              <a:t>F-Secure, Vienna: https://www.f-secure.com/v-descs/vienna</a:t>
            </a:r>
          </a:p>
          <a:p xmlns:a="http://schemas.openxmlformats.org/drawingml/2006/main">
            <a:r>
              <a:t>F-Secure, Cascade: https://www.f-secure.com/v-descs/cascade</a:t>
            </a:r>
          </a:p>
          <a:p xmlns:a="http://schemas.openxmlformats.org/drawingml/2006/main">
            <a:r>
              <a:t>Source photographs: 2600, Spring 1992, pages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4:45–5:30 · 45 seconds</a:t>
            </a:r>
          </a:p>
          <a:p xmlns:a="http://schemas.openxmlformats.org/drawingml/2006/main">
            <a:r>
              <a:t/>
            </a:r>
          </a:p>
          <a:p xmlns:a="http://schemas.openxmlformats.org/drawingml/2006/main">
            <a:r>
              <a:t>Set expectations for the takeaways Charley intends to provide: historical context, a DOS 6.22 environment with networking enabled, assembly files for lab testing, and the variant disinfector source. These are planned audience resources, not a claim that this deck embeds or distributes them. Provide the actual resource location when the release is ready. The environment and networking setup have not been verified during deck preparation. Networking capability is useful for lab file transfer; the malware demonstration belongs in an isolated setup. Describe the disinfector as the research prototype discussed later, including its candidate-detection and I/O-validation limitations, rather than a general-purpose antivirus.</a:t>
            </a:r>
          </a:p>
          <a:p xmlns:a="http://schemas.openxmlformats.org/drawingml/2006/main">
            <a:r>
              <a:t/>
            </a:r>
          </a:p>
          <a:p xmlns:a="http://schemas.openxmlformats.org/drawingml/2006/main">
            <a:r>
              <a:t>SOURCES</a:t>
            </a:r>
          </a:p>
          <a:p xmlns:a="http://schemas.openxmlformats.org/drawingml/2006/main">
            <a:r>
              <a:t>Charley Pfaff: requested audience takeaways.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5:30–6:45 · 75 seconds</a:t>
            </a:r>
          </a:p>
          <a:p xmlns:a="http://schemas.openxmlformats.org/drawingml/2006/main">
            <a:r>
              <a:t/>
            </a:r>
          </a:p>
          <a:p xmlns:a="http://schemas.openxmlformats.org/drawingml/2006/main">
            <a:r>
              <a:t>Transition from the motivation to the actual beginning: photographs of the printed listing. The original source pages are shown here. Describe the first conversion from image to transcribed assembly, then the NASM conversion questions that followed. The pages identify Spring 1992, pages 5–6. A printed, public starting point gives a reference against which to check the transcription. It does not mean every later local variant is identical to the publication. The next slides follow that reconstruction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6:45–7:45 · 60 seconds</a:t>
            </a:r>
          </a:p>
          <a:p xmlns:a="http://schemas.openxmlformats.org/drawingml/2006/main">
            <a:r>
              <a:t/>
            </a:r>
          </a:p>
          <a:p xmlns:a="http://schemas.openxmlformats.org/drawingml/2006/main">
            <a:r>
              <a:t>Describe the working setup needed for the reconstruction. A hypervisor with virtual floppy support provides a way to attach disk images to the DOS guest. DOS supplies the execution environment. NASM and MASM are assemblers: explain the syntax differences that made conversion part of the project, without claiming that every saved version was built with both. DOS DEBUG provides the memory and instruction inspection shown later in the talk. Explain your actual file-transfer workflow between the host and the guest, such as preparing and attaching floppy images. Keep the workflow concrete: editing source, assembling, transferring the build and inspecting it in DOS. The exact transfer utility and hypervisor configuration are not specified here.</a:t>
            </a:r>
          </a:p>
          <a:p xmlns:a="http://schemas.openxmlformats.org/drawingml/2006/main">
            <a:r>
              <a:t/>
            </a:r>
          </a:p>
          <a:p xmlns:a="http://schemas.openxmlformats.org/drawingml/2006/main">
            <a:r>
              <a:t>SOURCES</a:t>
            </a:r>
          </a:p>
          <a:p xmlns:a="http://schemas.openxmlformats.org/drawingml/2006/main">
            <a:r>
              <a:t>Charley Pfaff: requested lab-tool list and supplied DOS DEBUG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7:45–9:00 · 75 seconds</a:t>
            </a:r>
          </a:p>
          <a:p xmlns:a="http://schemas.openxmlformats.org/drawingml/2006/main">
            <a:r>
              <a:t/>
            </a:r>
          </a:p>
          <a:p xmlns:a="http://schemas.openxmlformats.org/drawingml/2006/main">
            <a:r>
              <a:t>The source photograph contains 0BBh,01,00 with a mov bx,1 comment. An early transcription changed 0BBh to 08Bh. Use this as a concrete lesson in checking an AI-assisted transcription against the source. A separate harmless instruction check for this presentation confirmed mov bx,1 emits BB 01 00. Do not claim this single discrepancy explains every runtime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9:00–10:15 · 75 seconds</a:t>
            </a:r>
          </a:p>
          <a:p xmlns:a="http://schemas.openxmlformats.org/drawingml/2006/main">
            <a:r>
              <a:t/>
            </a:r>
          </a:p>
          <a:p xmlns:a="http://schemas.openxmlformats.org/drawingml/2006/main">
            <a:r>
              <a:t>The conversations covered individual syntax conversions. NASM accepts both hexadecimal suffix and prefix notation. Syntax equivalence differs from substituting an instruction: mov cx,0 and xor cx,cx use different encodings, and xor changes flags. These isolated checks explain why plausible advice still needed verification. No full malware build is demonstrated here.</a:t>
            </a:r>
          </a:p>
          <a:p xmlns:a="http://schemas.openxmlformats.org/drawingml/2006/main">
            <a:r>
              <a:t/>
            </a:r>
          </a:p>
          <a:p xmlns:a="http://schemas.openxmlformats.org/drawingml/2006/main">
            <a:r>
              <a:t>SOURCES</a:t>
            </a:r>
          </a:p>
          <a:p xmlns:a="http://schemas.openxmlformats.org/drawingml/2006/main">
            <a:r>
              <a:t>https://www.nasm.us/doc/nasm03.html#section-3.4.1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10:15–11:30 · 75 seconds</a:t>
            </a:r>
          </a:p>
          <a:p xmlns:a="http://schemas.openxmlformats.org/drawingml/2006/main">
            <a:r>
              <a:t/>
            </a:r>
          </a:p>
          <a:p xmlns:a="http://schemas.openxmlformats.org/drawingml/2006/main">
            <a:r>
              <a:t>Point out the actual dump, the address column and visible strings. Explain the distinction between the source text you intended and the bytes in memory. Avoid reading out the entire dump or turning it into a construction recipe. A memory dump alone does not establish successful infection or cleanup.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11:30–13:00 · 90 seconds</a:t>
            </a:r>
          </a:p>
          <a:p xmlns:a="http://schemas.openxmlformats.org/drawingml/2006/main">
            <a:r>
              <a:t/>
            </a:r>
          </a:p>
          <a:p xmlns:a="http://schemas.openxmlformats.org/drawingml/2006/main">
            <a:r>
              <a:t>The strings Found a file, gen debug and open was successful appear in 1992c.asm, matching the January 19 screenshot. This connects the capture to the listing-port development work. The source contains instrumentation and variant changes. These messages indicate reached program stages, not independent proof of every DOS operation or successful infection.</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13:00–14:15 · 75 seconds</a:t>
            </a:r>
          </a:p>
          <a:p xmlns:a="http://schemas.openxmlformats.org/drawingml/2006/main">
            <a:r>
              <a:t/>
            </a:r>
          </a:p>
          <a:p xmlns:a="http://schemas.openxmlformats.org/drawingml/2006/main">
            <a:r>
              <a:t>v3.asm defines the visible two-character markers. FF precedes FindFirst, FO marks the found-file/open path, FH follows a successful open, RD precedes reading, IN enters the modification path, WJ/WO/WV mark intended writes, CL precedes close, NX precedes FindNext, RE marks entry restoration and EX marks exit or return to host. GB follows segment setup but has no explicit expanded name. The macro preserves AX and DX. Messages printed before writes do not establish that writes completed. Repetition in a screenshot alone does not identify a defect or prove a loop diagnosis.</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14:15–15:15 · 60 seconds</a:t>
            </a:r>
          </a:p>
          <a:p xmlns:a="http://schemas.openxmlformats.org/drawingml/2006/main">
            <a:r>
              <a:t/>
            </a:r>
          </a:p>
          <a:p xmlns:a="http://schemas.openxmlformats.org/drawingml/2006/main">
            <a:r>
              <a:t>Static reading of v3.asm shows an appending .COM file infector design with saved entry bytes and host return. Explain these as source behavior and intent, not fresh runtime validation. Returning the host entry in memory does not remove the appended content from disk. This distinction motivates the separate cleaner. Do not equate the later variant with every detail of the 1992 printed source.</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15:15–16:45 · 90 seconds</a:t>
            </a:r>
          </a:p>
          <a:p xmlns:a="http://schemas.openxmlformats.org/drawingml/2006/main">
            <a:r>
              <a:t/>
            </a:r>
          </a:p>
          <a:p xmlns:a="http://schemas.openxmlformats.org/drawingml/2006/main">
            <a:r>
              <a:t>The upper diagram shows v3.asm: the host body stays in place, entry bytes are saved at the end, appended code receives control from the entry JMP, and saved entry bytes are restored in memory before host return. The lower payload section belongs to different files: 1992c.asm and cc.asm attempt to create A.TXT with normal attributes, close it and exit to DOS. payload.asm is the standalone test. No data write occurs in this payload, so successful creation leaves an empty file. If that filename already exists, successful creation truncates it. Do not describe this as an extra v3.asm stage: that source lacks this payload. These are static source findings, not newly verified run results. Host return does not clean the disk file.</a:t>
            </a:r>
          </a:p>
          <a:p xmlns:a="http://schemas.openxmlformats.org/drawingml/2006/main">
            <a:r>
              <a:t/>
            </a:r>
          </a:p>
          <a:p xmlns:a="http://schemas.openxmlformats.org/drawingml/2006/main">
            <a:r>
              <a:t>SOURCES</a:t>
            </a:r>
          </a:p>
          <a:p xmlns:a="http://schemas.openxmlformats.org/drawingml/2006/main">
            <a:r>
              <a:t>Static source review: ~/code/1992/v3.asm, 1992c.asm, cc.asm, payload.asm and disinfect.asm. AI-generated explanatory 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16:45–18:00 · 75 seconds</a:t>
            </a:r>
          </a:p>
          <a:p xmlns:a="http://schemas.openxmlformats.org/drawingml/2006/main">
            <a:r>
              <a:t/>
            </a:r>
          </a:p>
          <a:p xmlns:a="http://schemas.openxmlformats.org/drawingml/2006/main">
            <a:r>
              <a:t>The capture dated January 22 shows zero vendors flagging this exact submitted object. Its name ends in .com, but VirusTotal identifies it as gzip. The capture does not explain whether compression was intentional, what an extracted object would contain, or whether engines analyzed it as an executable. This result cannot by itself establish a runtime protection bypass. The displayed “9 days ago” is relative analysis age, not the capture date. SHA-256: cccb27478c595c14c300916f735554624ee34f2e3580bf7c7860035f49cc8fcf.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18:00–19:15 · 75 seconds</a:t>
            </a:r>
          </a:p>
          <a:p xmlns:a="http://schemas.openxmlformats.org/drawingml/2006/main">
            <a:r>
              <a:t/>
            </a:r>
          </a:p>
          <a:p xmlns:a="http://schemas.openxmlformats.org/drawingml/2006/main">
            <a:r>
              <a:t>This is a different hash, size and file type. Several vendor labels contain Mark II, but labels alone do not establish the historical identity or relationship between the two samples. Explain why this second result belongs beside the zero result. Do not frame it as a controlled before-and-after test. SHA-256: ef78f653f95b87cd7ed2eb5124a0fd1520ecac132c1eacf22e6b7a3efee263e3.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19:15–20:15 · 60 seconds</a:t>
            </a:r>
          </a:p>
          <a:p xmlns:a="http://schemas.openxmlformats.org/drawingml/2006/main">
            <a:r>
              <a:t/>
            </a:r>
          </a:p>
          <a:p xmlns:a="http://schemas.openxmlformats.org/drawingml/2006/main">
            <a:r>
              <a:t>Compare the actual metadata. Two screenshots of the zero-detection report refer to the same hash and are not independent tests. The causal explanation for the differing results remains unresolved. A useful follow-up is to establish file provenance and intended formats from the original artifacts before interpreting detector behavior. The loose files inspected in ~/code/1992/ did not match either screenshot SHA-256. The VM archive was not unpacked. The gzip question therefore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20:15–20:45 · 30 seconds</a:t>
            </a:r>
          </a:p>
          <a:p xmlns:a="http://schemas.openxmlformats.org/drawingml/2006/main">
            <a:r>
              <a:t/>
            </a:r>
          </a:p>
          <a:p xmlns:a="http://schemas.openxmlformats.org/drawingml/2006/main">
            <a:r>
              <a:t>The defensible observation is zero reported detections for a particular submitted object at a particular analysis. The next questions are what bytes were submitted, what format was recognized and what actually ran in the lab. This turns a surprising result into a lesson about evidence. Avoid broad claims that modern antivirus cannot detect a 1992 virus.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20:45–21:45 · 60 seconds</a:t>
            </a:r>
          </a:p>
          <a:p xmlns:a="http://schemas.openxmlformats.org/drawingml/2006/main">
            <a:r>
              <a:t/>
            </a:r>
          </a:p>
          <a:p xmlns:a="http://schemas.openxmlformats.org/drawingml/2006/main">
            <a:r>
              <a:t>Connect the historical extension to the later Windows command environment. The supplied list includes chcp.com, diskcomp.com, diskcopy.com, format.com, mode.com, more.com and tree.com, reported in Windows 7 System32. Explain their roles by the groups shown. Microsoft command documentation supports the command functions and its archived reference includes Windows 7. This is not a fresh-install inventory independently tested across editions. The crucial distinction is that an extension does not determine executable format: Windows PE executables can carry .com filenames. Do not claim the DOS flat-binary entry-patching method works on these Windows utilities. Microsoft documents that 64-bit Windows lacks NTVDM, so a shared filename extension does not establish 16-bit execution support. Relevance to defense: identify the actual format and execution environment before interpreting a filename or detection result.</a:t>
            </a:r>
          </a:p>
          <a:p xmlns:a="http://schemas.openxmlformats.org/drawingml/2006/main">
            <a:r>
              <a:t/>
            </a:r>
          </a:p>
          <a:p xmlns:a="http://schemas.openxmlformats.org/drawingml/2006/main">
            <a:r>
              <a:t>SOURCES</a:t>
            </a:r>
          </a:p>
          <a:p xmlns:a="http://schemas.openxmlformats.org/drawingml/2006/main">
            <a:r>
              <a:t>User-supplied Windows 7 file list.</a:t>
            </a:r>
          </a:p>
          <a:p xmlns:a="http://schemas.openxmlformats.org/drawingml/2006/main">
            <a:r>
              <a:t>Microsoft Windows command reference (includes Windows 7): https://learn.microsoft.com/en-us/previous-versions/windows/it-pro/windows-server-2012-r2-and-2012/cc772390(v=ws.11)</a:t>
            </a:r>
          </a:p>
          <a:p xmlns:a="http://schemas.openxmlformats.org/drawingml/2006/main">
            <a:r>
              <a:t>Microsoft command reference: https://learn.microsoft.com/en-us/windows-server/administration/windows-commands/windows-commands</a:t>
            </a:r>
          </a:p>
          <a:p xmlns:a="http://schemas.openxmlformats.org/drawingml/2006/main">
            <a:r>
              <a:t>Raymond Chen: https://devblogs.microsoft.com/oldnewthing/20080324-00/?p=23033</a:t>
            </a:r>
          </a:p>
          <a:p xmlns:a="http://schemas.openxmlformats.org/drawingml/2006/main">
            <a:r>
              <a:t>Microsoft NTVDM: https://learn.microsoft.com/en-us/windows/compatibility/ntvdm-and-16-bit-app-support</a:t>
            </a:r>
          </a:p>
          <a:p xmlns:a="http://schemas.openxmlformats.org/drawingml/2006/main">
            <a:r>
              <a:t>AI-generated conceptual infographic, not an operating-system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21:45–23:00 · 75 seconds</a:t>
            </a:r>
          </a:p>
          <a:p xmlns:a="http://schemas.openxmlformats.org/drawingml/2006/main">
            <a:r>
              <a:t/>
            </a:r>
          </a:p>
          <a:p xmlns:a="http://schemas.openxmlformats.org/drawingml/2006/main">
            <a:r>
              <a:t>disinfect.asm provides concrete source evidence for the defensive tool. It enumerates .COM files, opens candidates, reads the entry, selects files beginning with E9, obtains saved entry bytes using the layout it assumes, writes them back and truncates the file. It then prints CLEANED and the filename. The intended layout corresponds to the later variant, but selection and I/O validation are too weak to establish safe general-purpose disinfection. No cleaner was executed during this review.</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23:00–24:00 · 60 seconds</a:t>
            </a:r>
          </a:p>
          <a:p xmlns:a="http://schemas.openxmlformats.org/drawingml/2006/main">
            <a:r>
              <a:t/>
            </a:r>
          </a:p>
          <a:p xmlns:a="http://schemas.openxmlformats.org/drawingml/2006/main">
            <a:r>
              <a:t>The source resolves the earlier ambiguity: these markers are in v3.asm, while disinfect.asm prints CLEANED followed by a filename. The short trace is consistent with a close/restore/exit path in an instrumented variant, not evidence of the cleaner running. This capture omits NX, which current v3.asm prints after close. That difference prevents assigning it to an exact build from the screenshot alone. RE denotes in-memory entry restoration. It does not establish removal of infection from disk.</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24:00–25:30 · 90 seconds</a:t>
            </a:r>
          </a:p>
          <a:p xmlns:a="http://schemas.openxmlformats.org/drawingml/2006/main">
            <a:r>
              <a:t/>
            </a:r>
          </a:p>
          <a:p xmlns:a="http://schemas.openxmlformats.org/drawingml/2006/main">
            <a:r>
              <a:t>The cleaner checks only the initial E9 opcode before interpreting the file according to its expected layout. It does not establish a variant-specific signature, validate the recovered extent against the actual file size, or compare the appended region against a known variant. Several seek and write results are unchecked, and read counts are not verified. Therefore CLEANED is a status message rather than proof of verified recovery. Discuss this candidly as the defensive engineering lesson, without implying the prototype is a production antivirus.</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25:30–26:50 · 80 seconds</a:t>
            </a:r>
          </a:p>
          <a:p xmlns:a="http://schemas.openxmlformats.org/drawingml/2006/main">
            <a:r>
              <a:t/>
            </a:r>
          </a:p>
          <a:p xmlns:a="http://schemas.openxmlformats.org/drawingml/2006/main">
            <a:r>
              <a:t>The source makes these validation needs concrete. Keep a known-good original and require byte equality after restoration. Include legitimate files beginning with E9, short or truncated files, unknown variants and failed I/O conditions. These are proposed controls, not completed tests. The supplied folder has backups, but their names do not prove a controlled before/after relationship. No matched restoration run was established by this static review.</a:t>
            </a:r>
          </a:p>
          <a:p xmlns:a="http://schemas.openxmlformats.org/drawingml/2006/main">
            <a:r>
              <a:t/>
            </a:r>
          </a:p>
          <a:p xmlns:a="http://schemas.openxmlformats.org/drawingml/2006/main">
            <a:r>
              <a:t>SOURCES</a:t>
            </a:r>
          </a:p>
          <a:p xmlns:a="http://schemas.openxmlformats.org/drawingml/2006/main">
            <a:r>
              <a:t>Static source review: Charley Pfaff, ~/code/1992/, September 2026. Sources are distinct from historical run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26:50–27:00 · 10 seconds</a:t>
            </a:r>
          </a:p>
          <a:p xmlns:a="http://schemas.openxmlformats.org/drawingml/2006/main">
            <a:r>
              <a:t/>
            </a:r>
          </a:p>
          <a:p xmlns:a="http://schemas.openxmlformats.org/drawingml/2006/main">
            <a:r>
              <a:t>Brief reaction beat after recovery validation. Caption requested by Charley: Mangia baby!! Image is AI-generated fan-art inspired by Richie presenting Original Beef sandwiches in The Bear season 4 episode 3, not an authentic episode still. Pause, then continue to modern parallels.</a:t>
            </a:r>
          </a:p>
          <a:p xmlns:a="http://schemas.openxmlformats.org/drawingml/2006/main">
            <a:r>
              <a:t/>
            </a:r>
          </a:p>
          <a:p xmlns:a="http://schemas.openxmlformats.org/drawingml/2006/main">
            <a:r>
              <a:t>SOURCES</a:t>
            </a:r>
          </a:p>
          <a:p xmlns:a="http://schemas.openxmlformats.org/drawingml/2006/main">
            <a:r>
              <a:t>Scene context: https://www.subtitlecat.com/subs/1125/The%20Bear%20s04e03.eng.html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27:00–28:30 · 90 seconds</a:t>
            </a:r>
          </a:p>
          <a:p xmlns:a="http://schemas.openxmlformats.org/drawingml/2006/main">
            <a:r>
              <a:t/>
            </a:r>
          </a:p>
          <a:p xmlns:a="http://schemas.openxmlformats.org/drawingml/2006/main">
            <a:r>
              <a:t>Connect principles rather than claiming this DOS sample executes on modern systems. A changed entry path raises provenance questions. A marker needs context. Normal-looking host behavior does not explain everything that happened earlier. On Windows, Sysmon can supply process creation and selected file or registry events, but it is not a byte-level history of DOS guest activity. The relevant observation point must match the environment.</a:t>
            </a:r>
          </a:p>
          <a:p xmlns:a="http://schemas.openxmlformats.org/drawingml/2006/main">
            <a:r>
              <a:t/>
            </a:r>
          </a:p>
          <a:p xmlns:a="http://schemas.openxmlformats.org/drawingml/2006/main">
            <a:r>
              <a:t>SOURCES</a:t>
            </a:r>
          </a:p>
          <a:p xmlns:a="http://schemas.openxmlformats.org/drawingml/2006/main">
            <a:r>
              <a:t>https://learn.microsoft.com/en-us/sysinternals/downloads/sysmon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28:30–29:30 · 60 seconds</a:t>
            </a:r>
          </a:p>
          <a:p xmlns:a="http://schemas.openxmlformats.org/drawingml/2006/main">
            <a:r>
              <a:t/>
            </a:r>
          </a:p>
          <a:p xmlns:a="http://schemas.openxmlformats.org/drawingml/2006/main">
            <a:r>
              <a:t>Close with the concrete work: source photographs exposed transcription errors, debugger output made intermediate states visible, and writing the cleaner forced the recovery question. Mention the role of the earlier conversations as an aid you tested against evidence. The original CFP asked whether old ideas still matter. Your answer is that execution changes, detection assumptions and restoration all remain questions defenders must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29:30–30:00 · 30 seconds</a:t>
            </a:r>
          </a:p>
          <a:p xmlns:a="http://schemas.openxmlformats.org/drawingml/2006/main">
            <a:r>
              <a:t/>
            </a:r>
          </a:p>
          <a:p xmlns:a="http://schemas.openxmlformats.org/drawingml/2006/main">
            <a:r>
              <a:t>End on the work you actually undertook, including the detector and cleaner you reported. Invite questions about reconstruction and defensive verification. Do not summarize the VirusTotal result as universal evasion.</a:t>
            </a:r>
          </a:p>
          <a:p xmlns:a="http://schemas.openxmlformats.org/drawingml/2006/main">
            <a:r>
              <a:t/>
            </a:r>
          </a:p>
          <a:p xmlns:a="http://schemas.openxmlformats.org/drawingml/2006/main">
            <a:r>
              <a:t>VISUAL: AI-generated conceptual illustration. It does not depict the actual source or lab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1ca4fed04649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1afe737d574381" /><Relationship Type="http://schemas.openxmlformats.org/officeDocument/2006/relationships/slideLayout" Target="/ppt/slideLayouts/slideLayout1.xml" Id="R4dda62b330f549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da62b330f549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e04f2522f44457" /><Relationship Type="http://schemas.openxmlformats.org/officeDocument/2006/relationships/image" Target="/ppt/media/image.png" Id="R1f5883c56a5043f3" /><Relationship Type="http://schemas.openxmlformats.org/officeDocument/2006/relationships/notesSlide" Target="/ppt/notesSlides/notesSlide1.xml" Id="R3da57b8d680944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a9d53102d04e3f" /><Relationship Type="http://schemas.openxmlformats.org/officeDocument/2006/relationships/notesSlide" Target="/ppt/notesSlides/notesSlide2.xml" Id="R73ca3bb75f604b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659ec908684ac2" /><Relationship Type="http://schemas.openxmlformats.org/officeDocument/2006/relationships/image" Target="/ppt/media/image2.png" Id="R96b8ceb1a7984e48" /><Relationship Type="http://schemas.openxmlformats.org/officeDocument/2006/relationships/notesSlide" Target="/ppt/notesSlides/notesSlide3.xml" Id="R1ae791dbbe7144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9e64bcfa404de6" /><Relationship Type="http://schemas.openxmlformats.org/officeDocument/2006/relationships/notesSlide" Target="/ppt/notesSlides/notesSlide4.xml" Id="R9d17bf0d11a945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4a813090584773" /><Relationship Type="http://schemas.openxmlformats.org/officeDocument/2006/relationships/notesSlide" Target="/ppt/notesSlides/notesSlide5.xml" Id="R554b60d930d746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af1a4546e44c4c" /><Relationship Type="http://schemas.openxmlformats.org/officeDocument/2006/relationships/image" Target="/ppt/media/image.jpeg" Id="Ra08d8a08de9e4237" /><Relationship Type="http://schemas.openxmlformats.org/officeDocument/2006/relationships/image" Target="/ppt/media/image2.jpeg" Id="R02ea8a23599648ed" /><Relationship Type="http://schemas.openxmlformats.org/officeDocument/2006/relationships/notesSlide" Target="/ppt/notesSlides/notesSlide6.xml" Id="R979109d66a344b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3c1399aed54d3f" /><Relationship Type="http://schemas.openxmlformats.org/officeDocument/2006/relationships/notesSlide" Target="/ppt/notesSlides/notesSlide7.xml" Id="R9662fa7696c643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cb1fb00bb24400" /><Relationship Type="http://schemas.openxmlformats.org/officeDocument/2006/relationships/image" Target="/ppt/media/image3.jpeg" Id="R136916e33e264258" /><Relationship Type="http://schemas.openxmlformats.org/officeDocument/2006/relationships/notesSlide" Target="/ppt/notesSlides/notesSlide8.xml" Id="R56003816131a48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4be89be89f4c6a" /><Relationship Type="http://schemas.openxmlformats.org/officeDocument/2006/relationships/notesSlide" Target="/ppt/notesSlides/notesSlide9.xml" Id="Rd759d7c1938b45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e07c06f70043f9" /><Relationship Type="http://schemas.openxmlformats.org/officeDocument/2006/relationships/image" Target="/ppt/media/image3.png" Id="Ra70c24a53a3f4db7" /><Relationship Type="http://schemas.openxmlformats.org/officeDocument/2006/relationships/notesSlide" Target="/ppt/notesSlides/notesSlide10.xml" Id="Re84af5ce90ed43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d61fdc3fdc459a" /><Relationship Type="http://schemas.openxmlformats.org/officeDocument/2006/relationships/image" Target="/ppt/media/image4.png" Id="R886cb13462784ac7" /><Relationship Type="http://schemas.openxmlformats.org/officeDocument/2006/relationships/notesSlide" Target="/ppt/notesSlides/notesSlide11.xml" Id="R5ed805436f8e47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aec373af8e45f7" /><Relationship Type="http://schemas.openxmlformats.org/officeDocument/2006/relationships/image" Target="/ppt/media/image5.png" Id="Rab66d6bd0c4c4504" /><Relationship Type="http://schemas.openxmlformats.org/officeDocument/2006/relationships/notesSlide" Target="/ppt/notesSlides/notesSlide12.xml" Id="R6dcfe961c4314f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97bec32311140c1" /><Relationship Type="http://schemas.openxmlformats.org/officeDocument/2006/relationships/notesSlide" Target="/ppt/notesSlides/notesSlide13.xml" Id="R40d5ea22eac44a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10d8b7dea64cc3" /><Relationship Type="http://schemas.openxmlformats.org/officeDocument/2006/relationships/image" Target="/ppt/media/image6.png" Id="Rbfc9589c19ba4ebd" /><Relationship Type="http://schemas.openxmlformats.org/officeDocument/2006/relationships/notesSlide" Target="/ppt/notesSlides/notesSlide14.xml" Id="Racfec0adbc6942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b37e0df8f04ac6" /><Relationship Type="http://schemas.openxmlformats.org/officeDocument/2006/relationships/image" Target="/ppt/media/image7.png" Id="R245dd5436ba5473b" /><Relationship Type="http://schemas.openxmlformats.org/officeDocument/2006/relationships/notesSlide" Target="/ppt/notesSlides/notesSlide15.xml" Id="Rb8114761bc4644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f895d24a244781" /><Relationship Type="http://schemas.openxmlformats.org/officeDocument/2006/relationships/image" Target="/ppt/media/image8.png" Id="R7065355a05fd4f39" /><Relationship Type="http://schemas.openxmlformats.org/officeDocument/2006/relationships/notesSlide" Target="/ppt/notesSlides/notesSlide16.xml" Id="R044add35b6e44e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7aef30db2234f53" /><Relationship Type="http://schemas.openxmlformats.org/officeDocument/2006/relationships/notesSlide" Target="/ppt/notesSlides/notesSlide17.xml" Id="R0a200dc1e84845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1ca23e00c6c421d" /><Relationship Type="http://schemas.openxmlformats.org/officeDocument/2006/relationships/notesSlide" Target="/ppt/notesSlides/notesSlide18.xml" Id="R37788964cf7245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5f255c5a724f0f" /><Relationship Type="http://schemas.openxmlformats.org/officeDocument/2006/relationships/image" Target="/ppt/media/image9.png" Id="R5390c83034fa465f" /><Relationship Type="http://schemas.openxmlformats.org/officeDocument/2006/relationships/notesSlide" Target="/ppt/notesSlides/notesSlide19.xml" Id="R9e1a9230f1d34b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63930df133402b" /><Relationship Type="http://schemas.openxmlformats.org/officeDocument/2006/relationships/notesSlide" Target="/ppt/notesSlides/notesSlide20.xml" Id="R1f81b2c8a75b4fb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2d8c0d0d1e44714" /><Relationship Type="http://schemas.openxmlformats.org/officeDocument/2006/relationships/image" Target="/ppt/media/image10.png" Id="R782284e15c844f70" /><Relationship Type="http://schemas.openxmlformats.org/officeDocument/2006/relationships/notesSlide" Target="/ppt/notesSlides/notesSlide21.xml" Id="R2122a50ab5614f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c4ec56a6fd145e1" /><Relationship Type="http://schemas.openxmlformats.org/officeDocument/2006/relationships/notesSlide" Target="/ppt/notesSlides/notesSlide22.xml" Id="R5ba3446af0a84b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5b3d30a59e44c07" /><Relationship Type="http://schemas.openxmlformats.org/officeDocument/2006/relationships/notesSlide" Target="/ppt/notesSlides/notesSlide23.xml" Id="R7bcdbd0b6244466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540370feaf34be8" /><Relationship Type="http://schemas.openxmlformats.org/officeDocument/2006/relationships/image" Target="/ppt/media/image11.png" Id="Raeac82ad87244d4f" /><Relationship Type="http://schemas.openxmlformats.org/officeDocument/2006/relationships/notesSlide" Target="/ppt/notesSlides/notesSlide24.xml" Id="R7ccd3ecae2de49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8777e85eb04488f" /><Relationship Type="http://schemas.openxmlformats.org/officeDocument/2006/relationships/notesSlide" Target="/ppt/notesSlides/notesSlide25.xml" Id="R25ed1beb3250461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033f80a5cc54a88" /><Relationship Type="http://schemas.openxmlformats.org/officeDocument/2006/relationships/notesSlide" Target="/ppt/notesSlides/notesSlide26.xml" Id="R9044e167798445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2c8661798014ff3" /><Relationship Type="http://schemas.openxmlformats.org/officeDocument/2006/relationships/image" Target="/ppt/media/image12.png" Id="Rcfb5cfc111ab44f3" /><Relationship Type="http://schemas.openxmlformats.org/officeDocument/2006/relationships/notesSlide" Target="/ppt/notesSlides/notesSlide27.xml" Id="R3008cb8fbd5246e8" /></Relationships>
</file>

<file path=ppt/slides/slide1.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f5883c56a5043f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36C958-7FB0-4DBE-A3E9-07970FC484DE}"/>
              </a:ext>
            </a:extLst>
          </p:cNvPr>
          <p:cNvSpPr>
            <a:spLocks xmlns:a="http://schemas.openxmlformats.org/drawingml/2006/main" noGrp="1"/>
          </p:cNvSpPr>
          <p:nvPr/>
        </p:nvSpPr>
        <p:spPr>
          <a:xfrm xmlns:a="http://schemas.openxmlformats.org/drawingml/2006/main">
            <a:off x="609600" y="1333500"/>
            <a:ext cx="7191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0F0E6"/>
                </a:solidFill>
                <a:latin typeface="Helvetica Neue"/>
                <a:ea typeface="Helvetica Neue"/>
                <a:cs typeface="Helvetica Neue"/>
              </a:defRPr>
            </a:pPr>
            <a:r>
              <a:rPr sz="4650" b="1">
                <a:solidFill>
                  <a:srgbClr val="F0F0E6"/>
                </a:solidFill>
                <a:latin typeface="Helvetica Neue"/>
                <a:ea typeface="Helvetica Neue"/>
                <a:cs typeface="Helvetica Neue"/>
              </a:rPr>
              <a:t>Reconstructing a 1992 Virus</a:t>
            </a:r>
          </a:p>
          <a:p xmlns:a="http://schemas.openxmlformats.org/drawingml/2006/main">
            <a:pPr>
              <a:defRPr sz="4650" b="1">
                <a:solidFill>
                  <a:srgbClr val="F0F0E6"/>
                </a:solidFill>
                <a:latin typeface="Helvetica Neue"/>
                <a:ea typeface="Helvetica Neue"/>
                <a:cs typeface="Helvetica Neue"/>
              </a:defRPr>
            </a:pPr>
            <a:r>
              <a:rPr sz="4650" b="1">
                <a:solidFill>
                  <a:srgbClr val="F0F0E6"/>
                </a:solidFill>
                <a:latin typeface="Helvetica Neue"/>
                <a:ea typeface="Helvetica Neue"/>
                <a:cs typeface="Helvetica Neue"/>
              </a:rPr>
              <a:t>to Understand Modern Malware</a:t>
            </a:r>
          </a:p>
        </p:txBody>
      </p:sp>
      <p:sp>
        <p:nvSpPr>
          <p:cNvPr id="3" name="">
            <a:extLst xmlns:a="http://schemas.openxmlformats.org/drawingml/2006/main">
              <a:ext uri="{FF2B5EF4-FFF2-40B4-BE49-F238E27FC236}">
                <a16:creationId xmlns:a16="http://schemas.microsoft.com/office/drawing/2014/main" id="{474CBFB0-E8E7-4396-BDF7-2505938D7255}"/>
              </a:ext>
            </a:extLst>
          </p:cNvPr>
          <p:cNvSpPr>
            <a:spLocks xmlns:a="http://schemas.openxmlformats.org/drawingml/2006/main" noGrp="1"/>
          </p:cNvSpPr>
          <p:nvPr/>
        </p:nvSpPr>
        <p:spPr>
          <a:xfrm xmlns:a="http://schemas.openxmlformats.org/drawingml/2006/main">
            <a:off x="647700" y="49339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AFF45"/>
                </a:solidFill>
                <a:latin typeface="Helvetica Neue"/>
                <a:ea typeface="Helvetica Neue"/>
                <a:cs typeface="Helvetica Neue"/>
              </a:defRPr>
            </a:pPr>
            <a:r>
              <a:rPr sz="2250" b="0">
                <a:solidFill>
                  <a:srgbClr val="CAFF45"/>
                </a:solidFill>
                <a:latin typeface="Helvetica Neue"/>
                <a:ea typeface="Helvetica Neue"/>
                <a:cs typeface="Helvetica Neue"/>
              </a:rPr>
              <a:t>Charley Pfaff</a:t>
            </a:r>
          </a:p>
        </p:txBody>
      </p:sp>
      <p:sp>
        <p:nvSpPr>
          <p:cNvPr id="4" name="">
            <a:extLst xmlns:a="http://schemas.openxmlformats.org/drawingml/2006/main">
              <a:ext uri="{FF2B5EF4-FFF2-40B4-BE49-F238E27FC236}">
                <a16:creationId xmlns:a16="http://schemas.microsoft.com/office/drawing/2014/main" id="{0117382C-69DE-43C4-A920-094479931444}"/>
              </a:ext>
            </a:extLst>
          </p:cNvPr>
          <p:cNvSpPr>
            <a:spLocks xmlns:a="http://schemas.openxmlformats.org/drawingml/2006/main" noGrp="1"/>
          </p:cNvSpPr>
          <p:nvPr/>
        </p:nvSpPr>
        <p:spPr>
          <a:xfrm xmlns:a="http://schemas.openxmlformats.org/drawingml/2006/main">
            <a:off x="647700" y="5524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7B09D"/>
                </a:solidFill>
                <a:latin typeface="Helvetica Neue"/>
                <a:ea typeface="Helvetica Neue"/>
                <a:cs typeface="Helvetica Neue"/>
              </a:defRPr>
            </a:pPr>
            <a:r>
              <a:rPr sz="1725" b="0">
                <a:solidFill>
                  <a:srgbClr val="A7B09D"/>
                </a:solidFill>
                <a:latin typeface="Helvetica Neue"/>
                <a:ea typeface="Helvetica Neue"/>
                <a:cs typeface="Helvetica Neue"/>
              </a:rPr>
              <a:t>GrrCON</a:t>
            </a:r>
          </a:p>
        </p:txBody>
      </p:sp>
    </p:spTree>
    <p:extLst>
      <p:ext uri="{BB962C8B-B14F-4D97-AF65-F5344CB8AC3E}">
        <p14:creationId xmlns:p14="http://schemas.microsoft.com/office/powerpoint/2010/main" val="810364074"/>
      </p:ext>
    </p:extLst>
  </p:cSld>
</p:sld>
</file>

<file path=ppt/slides/slide2.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5E7CB8-E528-438D-8D39-E6B3D4EC9804}"/>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A day at the DOS prompt</a:t>
            </a:r>
          </a:p>
        </p:txBody>
      </p:sp>
      <p:sp>
        <p:nvSpPr>
          <p:cNvPr id="2" name="">
            <a:extLst xmlns:a="http://schemas.openxmlformats.org/drawingml/2006/main">
              <a:ext uri="{FF2B5EF4-FFF2-40B4-BE49-F238E27FC236}">
                <a16:creationId xmlns:a16="http://schemas.microsoft.com/office/drawing/2014/main" id="{16ED2591-D732-42D8-A165-E07746D6C2FA}"/>
              </a:ext>
            </a:extLst>
          </p:cNvPr>
          <p:cNvSpPr>
            <a:spLocks xmlns:a="http://schemas.openxmlformats.org/drawingml/2006/main" noGrp="1"/>
          </p:cNvSpPr>
          <p:nvPr/>
        </p:nvSpPr>
        <p:spPr>
          <a:xfrm xmlns:a="http://schemas.openxmlformats.org/drawingml/2006/main">
            <a:off x="609600" y="2143125"/>
            <a:ext cx="681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CAFF45"/>
                </a:solidFill>
                <a:latin typeface="Helvetica Neue"/>
                <a:ea typeface="Helvetica Neue"/>
                <a:cs typeface="Helvetica Neue"/>
              </a:defRPr>
            </a:pPr>
            <a:r>
              <a:rPr sz="5400" b="1">
                <a:solidFill>
                  <a:srgbClr val="CAFF45"/>
                </a:solidFill>
                <a:latin typeface="Helvetica Neue"/>
                <a:ea typeface="Helvetica Neue"/>
                <a:cs typeface="Helvetica Neue"/>
              </a:rPr>
              <a:t>DOS. A drive.</a:t>
            </a:r>
          </a:p>
          <a:p xmlns:a="http://schemas.openxmlformats.org/drawingml/2006/main">
            <a:pPr>
              <a:defRPr sz="5400" b="1">
                <a:solidFill>
                  <a:srgbClr val="CAFF45"/>
                </a:solidFill>
                <a:latin typeface="Helvetica Neue"/>
                <a:ea typeface="Helvetica Neue"/>
                <a:cs typeface="Helvetica Neue"/>
              </a:defRPr>
            </a:pPr>
            <a:r>
              <a:rPr sz="5400" b="1">
                <a:solidFill>
                  <a:srgbClr val="CAFF45"/>
                </a:solidFill>
                <a:latin typeface="Helvetica Neue"/>
                <a:ea typeface="Helvetica Neue"/>
                <a:cs typeface="Helvetica Neue"/>
              </a:rPr>
              <a:t>FIND.COM.</a:t>
            </a:r>
          </a:p>
        </p:txBody>
      </p:sp>
      <p:sp>
        <p:nvSpPr>
          <p:cNvPr id="3" name="">
            <a:extLst xmlns:a="http://schemas.openxmlformats.org/drawingml/2006/main">
              <a:ext uri="{FF2B5EF4-FFF2-40B4-BE49-F238E27FC236}">
                <a16:creationId xmlns:a16="http://schemas.microsoft.com/office/drawing/2014/main" id="{7F17A817-B027-474B-BA68-F53547F1D00F}"/>
              </a:ext>
            </a:extLst>
          </p:cNvPr>
          <p:cNvSpPr>
            <a:spLocks xmlns:a="http://schemas.openxmlformats.org/drawingml/2006/main" noGrp="1"/>
          </p:cNvSpPr>
          <p:nvPr/>
        </p:nvSpPr>
        <p:spPr>
          <a:xfrm xmlns:a="http://schemas.openxmlformats.org/drawingml/2006/main">
            <a:off x="7715250" y="2228850"/>
            <a:ext cx="4000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Work in DOS</a:t>
            </a:r>
          </a:p>
          <a:p xmlns:a="http://schemas.openxmlformats.org/drawingml/2006/main">
            <a:pP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Mount the lab drive</a:t>
            </a:r>
          </a:p>
          <a:p xmlns:a="http://schemas.openxmlformats.org/drawingml/2006/main">
            <a:pP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Run FIND.COM</a:t>
            </a:r>
          </a:p>
          <a:p xmlns:a="http://schemas.openxmlformats.org/drawingml/2006/main">
            <a:pP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Observe the result</a:t>
            </a:r>
          </a:p>
        </p:txBody>
      </p:sp>
      <p:sp>
        <p:nvSpPr>
          <p:cNvPr id="4" name="">
            <a:extLst xmlns:a="http://schemas.openxmlformats.org/drawingml/2006/main">
              <a:ext uri="{FF2B5EF4-FFF2-40B4-BE49-F238E27FC236}">
                <a16:creationId xmlns:a16="http://schemas.microsoft.com/office/drawing/2014/main" id="{1A77BEE2-BCA6-4CFB-BD4E-766F94B98EA1}"/>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Charley Pfaff / GrrCON / Opening demo</a:t>
            </a:r>
          </a:p>
        </p:txBody>
      </p:sp>
    </p:spTree>
    <p:extLst>
      <p:ext uri="{BB962C8B-B14F-4D97-AF65-F5344CB8AC3E}">
        <p14:creationId xmlns:p14="http://schemas.microsoft.com/office/powerpoint/2010/main" val="656437522"/>
      </p:ext>
    </p:extLst>
  </p:cSld>
</p:sld>
</file>

<file path=ppt/slides/slide3.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6b8ceb1a7984e4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927782346"/>
      </p:ext>
    </p:extLst>
  </p:cSld>
</p:sld>
</file>

<file path=ppt/slides/slide4.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F6C15A4-8D9D-42E1-A80E-CA76A978D326}"/>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Why do this?</a:t>
            </a:r>
          </a:p>
        </p:txBody>
      </p:sp>
      <p:sp>
        <p:nvSpPr>
          <p:cNvPr id="2" name="">
            <a:extLst xmlns:a="http://schemas.openxmlformats.org/drawingml/2006/main">
              <a:ext uri="{FF2B5EF4-FFF2-40B4-BE49-F238E27FC236}">
                <a16:creationId xmlns:a16="http://schemas.microsoft.com/office/drawing/2014/main" id="{2E0EA4CB-3528-4820-A4B6-2984F896930F}"/>
              </a:ext>
            </a:extLst>
          </p:cNvPr>
          <p:cNvSpPr>
            <a:spLocks xmlns:a="http://schemas.openxmlformats.org/drawingml/2006/main" noGrp="1"/>
          </p:cNvSpPr>
          <p:nvPr/>
        </p:nvSpPr>
        <p:spPr>
          <a:xfrm xmlns:a="http://schemas.openxmlformats.org/drawingml/2006/main">
            <a:off x="609600" y="1743075"/>
            <a:ext cx="109728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What happened back then? Vienna and Cascade infected .COM files.</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How hard would rebuilding one really be?</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Start with a known public sample: the 1992 printed listing.</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Learn from the past by inspecting what the code actually does.</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For fun. Apparently my hobbies need a DOS prompt.</a:t>
            </a:r>
          </a:p>
        </p:txBody>
      </p:sp>
      <p:sp>
        <p:nvSpPr>
          <p:cNvPr id="3" name="">
            <a:extLst xmlns:a="http://schemas.openxmlformats.org/drawingml/2006/main">
              <a:ext uri="{FF2B5EF4-FFF2-40B4-BE49-F238E27FC236}">
                <a16:creationId xmlns:a16="http://schemas.microsoft.com/office/drawing/2014/main" id="{038EDEA5-CE6B-4CEF-8C8D-E92B3FE96746}"/>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History repeats itself. I wanted to single-step it.</a:t>
            </a:r>
          </a:p>
        </p:txBody>
      </p:sp>
    </p:spTree>
    <p:extLst>
      <p:ext uri="{BB962C8B-B14F-4D97-AF65-F5344CB8AC3E}">
        <p14:creationId xmlns:p14="http://schemas.microsoft.com/office/powerpoint/2010/main" val="1754894457"/>
      </p:ext>
    </p:extLst>
  </p:cSld>
</p:sld>
</file>

<file path=ppt/slides/slide5.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8496806-F937-4387-846B-2514264C6FE3}"/>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What you will walk away with</a:t>
            </a:r>
          </a:p>
        </p:txBody>
      </p:sp>
      <p:sp>
        <p:nvSpPr>
          <p:cNvPr id="2" name="">
            <a:extLst xmlns:a="http://schemas.openxmlformats.org/drawingml/2006/main">
              <a:ext uri="{FF2B5EF4-FFF2-40B4-BE49-F238E27FC236}">
                <a16:creationId xmlns:a16="http://schemas.microsoft.com/office/drawing/2014/main" id="{5FF3F344-E763-4520-8F81-F01BCA70CEB3}"/>
              </a:ext>
            </a:extLst>
          </p:cNvPr>
          <p:cNvSpPr>
            <a:spLocks xmlns:a="http://schemas.openxmlformats.org/drawingml/2006/main" noGrp="1"/>
          </p:cNvSpPr>
          <p:nvPr/>
        </p:nvSpPr>
        <p:spPr>
          <a:xfrm xmlns:a="http://schemas.openxmlformats.org/drawingml/2006/main">
            <a:off x="609600" y="1743075"/>
            <a:ext cx="109728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Historical knowledge of DOS .COM file infectors</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 DOS 6.22 environment with networking enabled. Woot!</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Assembly source files for testing in the lab</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Disinfector code for this variant</a:t>
            </a:r>
          </a:p>
        </p:txBody>
      </p:sp>
    </p:spTree>
    <p:extLst>
      <p:ext uri="{BB962C8B-B14F-4D97-AF65-F5344CB8AC3E}">
        <p14:creationId xmlns:p14="http://schemas.microsoft.com/office/powerpoint/2010/main" val="245295145"/>
      </p:ext>
    </p:extLst>
  </p:cSld>
</p:sld>
</file>

<file path=ppt/slides/slide6.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08d8a08de9e4237"/>
          <a:stretch xmlns:a="http://schemas.openxmlformats.org/drawingml/2006/main"/>
        </p:blipFill>
        <p:spPr>
          <a:xfrm xmlns:a="http://schemas.openxmlformats.org/drawingml/2006/main">
            <a:off x="1296060" y="1524000"/>
            <a:ext cx="1979879" cy="4286250"/>
          </a:xfrm>
          <a:prstGeom xmlns:a="http://schemas.openxmlformats.org/drawingml/2006/main" prst="rect">
            <a:avLst/>
          </a:prstGeom>
        </p:spPr>
      </p:pic>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2ea8a23599648ed"/>
          <a:stretch xmlns:a="http://schemas.openxmlformats.org/drawingml/2006/main"/>
        </p:blipFill>
        <p:spPr>
          <a:xfrm xmlns:a="http://schemas.openxmlformats.org/drawingml/2006/main">
            <a:off x="5010810" y="1524000"/>
            <a:ext cx="1979879" cy="428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620F79-75D1-477C-B866-ADF9503376CD}"/>
              </a:ext>
            </a:extLst>
          </p:cNvPr>
          <p:cNvSpPr>
            <a:spLocks xmlns:a="http://schemas.openxmlformats.org/drawingml/2006/main" noGrp="1"/>
          </p:cNvSpPr>
          <p:nvPr/>
        </p:nvSpPr>
        <p:spPr>
          <a:xfrm xmlns:a="http://schemas.openxmlformats.org/drawingml/2006/main">
            <a:off x="8334375" y="195262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AFF45"/>
                </a:solidFill>
                <a:latin typeface="Helvetica Neue"/>
                <a:ea typeface="Helvetica Neue"/>
                <a:cs typeface="Helvetica Neue"/>
              </a:defRPr>
            </a:pPr>
            <a:r>
              <a:rPr sz="2550" b="1">
                <a:solidFill>
                  <a:srgbClr val="CAFF45"/>
                </a:solidFill>
                <a:latin typeface="Helvetica Neue"/>
                <a:ea typeface="Helvetica Neue"/>
                <a:cs typeface="Helvetica Neue"/>
              </a:rPr>
              <a:t>Spring 1992</a:t>
            </a:r>
          </a:p>
          <a:p xmlns:a="http://schemas.openxmlformats.org/drawingml/2006/main">
            <a:r>
              <a:t/>
            </a:r>
          </a:p>
          <a:p xmlns:a="http://schemas.openxmlformats.org/drawingml/2006/main">
            <a:pPr>
              <a:defRPr sz="2550" b="1">
                <a:solidFill>
                  <a:srgbClr val="CAFF45"/>
                </a:solidFill>
                <a:latin typeface="Helvetica Neue"/>
                <a:ea typeface="Helvetica Neue"/>
                <a:cs typeface="Helvetica Neue"/>
              </a:defRPr>
            </a:pPr>
            <a:r>
              <a:rPr sz="2550" b="1">
                <a:solidFill>
                  <a:srgbClr val="CAFF45"/>
                </a:solidFill>
                <a:latin typeface="Helvetica Neue"/>
                <a:ea typeface="Helvetica Neue"/>
                <a:cs typeface="Helvetica Neue"/>
              </a:rPr>
              <a:t>Pages 5–6</a:t>
            </a:r>
          </a:p>
          <a:p xmlns:a="http://schemas.openxmlformats.org/drawingml/2006/main">
            <a:r>
              <a:t/>
            </a:r>
          </a:p>
          <a:p xmlns:a="http://schemas.openxmlformats.org/drawingml/2006/main">
            <a:pPr>
              <a:defRPr sz="2550" b="1">
                <a:solidFill>
                  <a:srgbClr val="CAFF45"/>
                </a:solidFill>
                <a:latin typeface="Helvetica Neue"/>
                <a:ea typeface="Helvetica Neue"/>
                <a:cs typeface="Helvetica Neue"/>
              </a:defRPr>
            </a:pPr>
            <a:r>
              <a:rPr sz="2550" b="1">
                <a:solidFill>
                  <a:srgbClr val="CAFF45"/>
                </a:solidFill>
                <a:latin typeface="Helvetica Neue"/>
                <a:ea typeface="Helvetica Neue"/>
                <a:cs typeface="Helvetica Neue"/>
              </a:rPr>
              <a:t>DOS .COM listing</a:t>
            </a:r>
          </a:p>
        </p:txBody>
      </p:sp>
      <p:sp>
        <p:nvSpPr>
          <p:cNvPr id="4" name="">
            <a:extLst xmlns:a="http://schemas.openxmlformats.org/drawingml/2006/main">
              <a:ext uri="{FF2B5EF4-FFF2-40B4-BE49-F238E27FC236}">
                <a16:creationId xmlns:a16="http://schemas.microsoft.com/office/drawing/2014/main" id="{93B375E9-2DA2-46E3-AAC7-6FCD7AF4A923}"/>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The start: image to code</a:t>
            </a:r>
          </a:p>
        </p:txBody>
      </p:sp>
    </p:spTree>
    <p:extLst>
      <p:ext uri="{BB962C8B-B14F-4D97-AF65-F5344CB8AC3E}">
        <p14:creationId xmlns:p14="http://schemas.microsoft.com/office/powerpoint/2010/main" val="1382734952"/>
      </p:ext>
    </p:extLst>
  </p:cSld>
</p:sld>
</file>

<file path=ppt/slides/slide7.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E7B3F25-E92D-437B-A131-6D6EDF0AE25E}"/>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Tools needed</a:t>
            </a:r>
          </a:p>
        </p:txBody>
      </p:sp>
      <p:sp>
        <p:nvSpPr>
          <p:cNvPr id="2" name="">
            <a:extLst xmlns:a="http://schemas.openxmlformats.org/drawingml/2006/main">
              <a:ext uri="{FF2B5EF4-FFF2-40B4-BE49-F238E27FC236}">
                <a16:creationId xmlns:a16="http://schemas.microsoft.com/office/drawing/2014/main" id="{3816D145-2BE3-4968-95CE-31B014799A69}"/>
              </a:ext>
            </a:extLst>
          </p:cNvPr>
          <p:cNvSpPr>
            <a:spLocks xmlns:a="http://schemas.openxmlformats.org/drawingml/2006/main" noGrp="1"/>
          </p:cNvSpPr>
          <p:nvPr/>
        </p:nvSpPr>
        <p:spPr>
          <a:xfrm xmlns:a="http://schemas.openxmlformats.org/drawingml/2006/main">
            <a:off x="609600" y="1743075"/>
            <a:ext cx="109728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 hypervisor with virtual floppy-drive support</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 DOS environment for running the programs</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Assemblers: NASM and MASM</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DOS DEBUG to inspect memory and instructions</a:t>
            </a:r>
          </a:p>
          <a:p xmlns:a="http://schemas.openxmlformats.org/drawingml/2006/main">
            <a:pPr marL="304800" indent="-190500">
              <a:spcAft>
                <a:spcPts val="3000"/>
              </a:spcAft>
              <a:buChar char="•"/>
              <a:defRPr sz="2250" b="0">
                <a:solidFill>
                  <a:srgbClr val="F0F0E6"/>
                </a:solidFill>
                <a:latin typeface="Helvetica Neue"/>
                <a:ea typeface="Helvetica Neue"/>
                <a:cs typeface="Helvetica Neue"/>
              </a:defRPr>
            </a:pPr>
            <a:r>
              <a:rPr sz="2250" b="0">
                <a:solidFill>
                  <a:srgbClr val="F0F0E6"/>
                </a:solidFill>
                <a:latin typeface="Helvetica Neue"/>
                <a:ea typeface="Helvetica Neue"/>
                <a:cs typeface="Helvetica Neue"/>
              </a:rPr>
              <a:t>A way to move source files and binaries into the lab</a:t>
            </a:r>
          </a:p>
        </p:txBody>
      </p:sp>
      <p:sp>
        <p:nvSpPr>
          <p:cNvPr id="3" name="">
            <a:extLst xmlns:a="http://schemas.openxmlformats.org/drawingml/2006/main">
              <a:ext uri="{FF2B5EF4-FFF2-40B4-BE49-F238E27FC236}">
                <a16:creationId xmlns:a16="http://schemas.microsoft.com/office/drawing/2014/main" id="{DA65DE3A-934C-4ECD-8F2F-81C82680158D}"/>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Edit on the host. Transfer to the lab. Inspect in DOS.</a:t>
            </a:r>
          </a:p>
        </p:txBody>
      </p:sp>
    </p:spTree>
    <p:extLst>
      <p:ext uri="{BB962C8B-B14F-4D97-AF65-F5344CB8AC3E}">
        <p14:creationId xmlns:p14="http://schemas.microsoft.com/office/powerpoint/2010/main" val="1063368646"/>
      </p:ext>
    </p:extLst>
  </p:cSld>
</p:sld>
</file>

<file path=ppt/slides/slide8.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36916e33e264258"/>
          <a:srcRect xmlns:a="http://schemas.openxmlformats.org/drawingml/2006/main" l="1500" t="79000" r="44000" b="14500"/>
          <a:stretch xmlns:a="http://schemas.openxmlformats.org/drawingml/2006/main">
            <a:fillRect l="0" t="0" r="0" b="0"/>
          </a:stretch>
        </p:blipFill>
        <p:spPr>
          <a:xfrm xmlns:a="http://schemas.openxmlformats.org/drawingml/2006/main">
            <a:off x="609600" y="1666875"/>
            <a:ext cx="10668000" cy="2000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3431C8-0CE2-4BF3-9891-310C4D69997F}"/>
              </a:ext>
            </a:extLst>
          </p:cNvPr>
          <p:cNvSpPr>
            <a:spLocks xmlns:a="http://schemas.openxmlformats.org/drawingml/2006/main" noGrp="1"/>
          </p:cNvSpPr>
          <p:nvPr/>
        </p:nvSpPr>
        <p:spPr>
          <a:xfrm xmlns:a="http://schemas.openxmlformats.org/drawingml/2006/main">
            <a:off x="609600" y="4000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PHOTO</a:t>
            </a:r>
          </a:p>
        </p:txBody>
      </p:sp>
      <p:sp>
        <p:nvSpPr>
          <p:cNvPr id="3" name="">
            <a:extLst xmlns:a="http://schemas.openxmlformats.org/drawingml/2006/main">
              <a:ext uri="{FF2B5EF4-FFF2-40B4-BE49-F238E27FC236}">
                <a16:creationId xmlns:a16="http://schemas.microsoft.com/office/drawing/2014/main" id="{AA2A7E25-34BC-4314-9703-A44771A146FF}"/>
              </a:ext>
            </a:extLst>
          </p:cNvPr>
          <p:cNvSpPr>
            <a:spLocks xmlns:a="http://schemas.openxmlformats.org/drawingml/2006/main" noGrp="1"/>
          </p:cNvSpPr>
          <p:nvPr/>
        </p:nvSpPr>
        <p:spPr>
          <a:xfrm xmlns:a="http://schemas.openxmlformats.org/drawingml/2006/main">
            <a:off x="609600" y="45529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0">
                <a:solidFill>
                  <a:srgbClr val="F0F0E6"/>
                </a:solidFill>
                <a:latin typeface="Helvetica Neue"/>
                <a:ea typeface="Helvetica Neue"/>
                <a:cs typeface="Helvetica Neue"/>
              </a:defRPr>
            </a:pPr>
            <a:r>
              <a:rPr sz="3525" b="0">
                <a:solidFill>
                  <a:srgbClr val="F0F0E6"/>
                </a:solidFill>
                <a:latin typeface="Helvetica Neue"/>
                <a:ea typeface="Helvetica Neue"/>
                <a:cs typeface="Helvetica Neue"/>
              </a:rPr>
              <a:t>0BBh, 01, 00</a:t>
            </a:r>
          </a:p>
        </p:txBody>
      </p:sp>
      <p:sp>
        <p:nvSpPr>
          <p:cNvPr id="4" name="">
            <a:extLst xmlns:a="http://schemas.openxmlformats.org/drawingml/2006/main">
              <a:ext uri="{FF2B5EF4-FFF2-40B4-BE49-F238E27FC236}">
                <a16:creationId xmlns:a16="http://schemas.microsoft.com/office/drawing/2014/main" id="{5D2D4732-D15B-47EE-85F9-370BEA814EA5}"/>
              </a:ext>
            </a:extLst>
          </p:cNvPr>
          <p:cNvSpPr>
            <a:spLocks xmlns:a="http://schemas.openxmlformats.org/drawingml/2006/main" noGrp="1"/>
          </p:cNvSpPr>
          <p:nvPr/>
        </p:nvSpPr>
        <p:spPr>
          <a:xfrm xmlns:a="http://schemas.openxmlformats.org/drawingml/2006/main">
            <a:off x="6572250" y="4000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B66B"/>
                </a:solidFill>
                <a:latin typeface="Helvetica Neue"/>
                <a:ea typeface="Helvetica Neue"/>
                <a:cs typeface="Helvetica Neue"/>
              </a:defRPr>
            </a:pPr>
            <a:r>
              <a:rPr sz="1875" b="1">
                <a:solidFill>
                  <a:srgbClr val="FFB66B"/>
                </a:solidFill>
                <a:latin typeface="Helvetica Neue"/>
                <a:ea typeface="Helvetica Neue"/>
                <a:cs typeface="Helvetica Neue"/>
              </a:rPr>
              <a:t>FIRST TRANSCRIPT</a:t>
            </a:r>
          </a:p>
        </p:txBody>
      </p:sp>
      <p:sp>
        <p:nvSpPr>
          <p:cNvPr id="5" name="">
            <a:extLst xmlns:a="http://schemas.openxmlformats.org/drawingml/2006/main">
              <a:ext uri="{FF2B5EF4-FFF2-40B4-BE49-F238E27FC236}">
                <a16:creationId xmlns:a16="http://schemas.microsoft.com/office/drawing/2014/main" id="{1926DA9B-E940-43EA-9478-33C08DC2DD3F}"/>
              </a:ext>
            </a:extLst>
          </p:cNvPr>
          <p:cNvSpPr>
            <a:spLocks xmlns:a="http://schemas.openxmlformats.org/drawingml/2006/main" noGrp="1"/>
          </p:cNvSpPr>
          <p:nvPr/>
        </p:nvSpPr>
        <p:spPr>
          <a:xfrm xmlns:a="http://schemas.openxmlformats.org/drawingml/2006/main">
            <a:off x="6572250" y="45529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0">
                <a:solidFill>
                  <a:srgbClr val="F0F0E6"/>
                </a:solidFill>
                <a:latin typeface="Helvetica Neue"/>
                <a:ea typeface="Helvetica Neue"/>
                <a:cs typeface="Helvetica Neue"/>
              </a:defRPr>
            </a:pPr>
            <a:r>
              <a:rPr sz="3525" b="0">
                <a:solidFill>
                  <a:srgbClr val="F0F0E6"/>
                </a:solidFill>
                <a:latin typeface="Helvetica Neue"/>
                <a:ea typeface="Helvetica Neue"/>
                <a:cs typeface="Helvetica Neue"/>
              </a:rPr>
              <a:t>08Bh, 01, 00</a:t>
            </a:r>
          </a:p>
        </p:txBody>
      </p:sp>
      <p:sp>
        <p:nvSpPr>
          <p:cNvPr id="6" name="">
            <a:extLst xmlns:a="http://schemas.openxmlformats.org/drawingml/2006/main">
              <a:ext uri="{FF2B5EF4-FFF2-40B4-BE49-F238E27FC236}">
                <a16:creationId xmlns:a16="http://schemas.microsoft.com/office/drawing/2014/main" id="{6A02C491-791D-4D09-8C01-C1AF3FA0A72F}"/>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One character changed the instruction</a:t>
            </a:r>
          </a:p>
        </p:txBody>
      </p:sp>
      <p:sp>
        <p:nvSpPr>
          <p:cNvPr id="7" name="">
            <a:extLst xmlns:a="http://schemas.openxmlformats.org/drawingml/2006/main">
              <a:ext uri="{FF2B5EF4-FFF2-40B4-BE49-F238E27FC236}">
                <a16:creationId xmlns:a16="http://schemas.microsoft.com/office/drawing/2014/main" id="{F2ED306A-2386-46DE-8D8E-5D1DE14C48CE}"/>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Source photograph above. Initial transcription below right.</a:t>
            </a:r>
          </a:p>
        </p:txBody>
      </p:sp>
    </p:spTree>
    <p:extLst>
      <p:ext uri="{BB962C8B-B14F-4D97-AF65-F5344CB8AC3E}">
        <p14:creationId xmlns:p14="http://schemas.microsoft.com/office/powerpoint/2010/main" val="1525340271"/>
      </p:ext>
    </p:extLst>
  </p:cSld>
</p:sld>
</file>

<file path=ppt/slides/slide9.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BAC217-BCEA-45E7-BA25-8B0D74404ACE}"/>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NASM conversion needed byte checks</a:t>
            </a:r>
          </a:p>
        </p:txBody>
      </p:sp>
      <p:sp>
        <p:nvSpPr>
          <p:cNvPr id="2" name="">
            <a:extLst xmlns:a="http://schemas.openxmlformats.org/drawingml/2006/main">
              <a:ext uri="{FF2B5EF4-FFF2-40B4-BE49-F238E27FC236}">
                <a16:creationId xmlns:a16="http://schemas.microsoft.com/office/drawing/2014/main" id="{13B44F5C-6633-432D-9771-621914046279}"/>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SAME VALUE</a:t>
            </a:r>
          </a:p>
        </p:txBody>
      </p:sp>
      <p:sp>
        <p:nvSpPr>
          <p:cNvPr id="3" name="">
            <a:extLst xmlns:a="http://schemas.openxmlformats.org/drawingml/2006/main">
              <a:ext uri="{FF2B5EF4-FFF2-40B4-BE49-F238E27FC236}">
                <a16:creationId xmlns:a16="http://schemas.microsoft.com/office/drawing/2014/main" id="{823F880A-528C-4986-AD6F-187CFBF8C431}"/>
              </a:ext>
            </a:extLst>
          </p:cNvPr>
          <p:cNvSpPr>
            <a:spLocks xmlns:a="http://schemas.openxmlformats.org/drawingml/2006/main" noGrp="1"/>
          </p:cNvSpPr>
          <p:nvPr/>
        </p:nvSpPr>
        <p:spPr>
          <a:xfrm xmlns:a="http://schemas.openxmlformats.org/drawingml/2006/main">
            <a:off x="609600" y="2857500"/>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0FF0Eh</a:t>
            </a:r>
          </a:p>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0xFF0E</a:t>
            </a:r>
          </a:p>
        </p:txBody>
      </p:sp>
      <p:sp>
        <p:nvSpPr>
          <p:cNvPr id="4" name="">
            <a:extLst xmlns:a="http://schemas.openxmlformats.org/drawingml/2006/main">
              <a:ext uri="{FF2B5EF4-FFF2-40B4-BE49-F238E27FC236}">
                <a16:creationId xmlns:a16="http://schemas.microsoft.com/office/drawing/2014/main" id="{6B7C4CEB-C017-4B20-99FC-9609CF42D18C}"/>
              </a:ext>
            </a:extLst>
          </p:cNvPr>
          <p:cNvSpPr>
            <a:spLocks xmlns:a="http://schemas.openxmlformats.org/drawingml/2006/main" noGrp="1"/>
          </p:cNvSpPr>
          <p:nvPr/>
        </p:nvSpPr>
        <p:spPr>
          <a:xfrm xmlns:a="http://schemas.openxmlformats.org/drawingml/2006/main">
            <a:off x="657225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DIFFERENT INSTRUCTIONS</a:t>
            </a:r>
          </a:p>
        </p:txBody>
      </p:sp>
      <p:sp>
        <p:nvSpPr>
          <p:cNvPr id="5" name="">
            <a:extLst xmlns:a="http://schemas.openxmlformats.org/drawingml/2006/main">
              <a:ext uri="{FF2B5EF4-FFF2-40B4-BE49-F238E27FC236}">
                <a16:creationId xmlns:a16="http://schemas.microsoft.com/office/drawing/2014/main" id="{1C4418FC-700C-4A1A-82E4-8A4C23A75C9F}"/>
              </a:ext>
            </a:extLst>
          </p:cNvPr>
          <p:cNvSpPr>
            <a:spLocks xmlns:a="http://schemas.openxmlformats.org/drawingml/2006/main" noGrp="1"/>
          </p:cNvSpPr>
          <p:nvPr/>
        </p:nvSpPr>
        <p:spPr>
          <a:xfrm xmlns:a="http://schemas.openxmlformats.org/drawingml/2006/main">
            <a:off x="6572250" y="2857500"/>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mov cx, 0</a:t>
            </a:r>
          </a:p>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xor cx, cx</a:t>
            </a:r>
          </a:p>
        </p:txBody>
      </p:sp>
      <p:sp>
        <p:nvSpPr>
          <p:cNvPr id="6" name="">
            <a:extLst xmlns:a="http://schemas.openxmlformats.org/drawingml/2006/main">
              <a:ext uri="{FF2B5EF4-FFF2-40B4-BE49-F238E27FC236}">
                <a16:creationId xmlns:a16="http://schemas.microsoft.com/office/drawing/2014/main" id="{90286E50-9DE1-4252-80D0-DA1178CC6185}"/>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Equivalent register values can still hide different bytes and side effects.</a:t>
            </a:r>
          </a:p>
        </p:txBody>
      </p:sp>
    </p:spTree>
    <p:extLst>
      <p:ext uri="{BB962C8B-B14F-4D97-AF65-F5344CB8AC3E}">
        <p14:creationId xmlns:p14="http://schemas.microsoft.com/office/powerpoint/2010/main" val="1886638123"/>
      </p:ext>
    </p:extLst>
  </p:cSld>
</p:sld>
</file>

<file path=ppt/slides/slide10.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70c24a53a3f4db7"/>
          <a:stretch xmlns:a="http://schemas.openxmlformats.org/drawingml/2006/main"/>
        </p:blipFill>
        <p:spPr>
          <a:xfrm xmlns:a="http://schemas.openxmlformats.org/drawingml/2006/main">
            <a:off x="2489127" y="1714500"/>
            <a:ext cx="7213746" cy="3476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A09EAC-8DD5-4D5A-BE5D-2EC8A5E53198}"/>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January 19: DEBUG inspecting find2.com</a:t>
            </a:r>
          </a:p>
        </p:txBody>
      </p:sp>
      <p:sp>
        <p:nvSpPr>
          <p:cNvPr id="3" name="">
            <a:extLst xmlns:a="http://schemas.openxmlformats.org/drawingml/2006/main">
              <a:ext uri="{FF2B5EF4-FFF2-40B4-BE49-F238E27FC236}">
                <a16:creationId xmlns:a16="http://schemas.microsoft.com/office/drawing/2014/main" id="{29AF3F7F-6AAD-4799-8565-3374BCCB199F}"/>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The debugger made the bytes visible</a:t>
            </a:r>
          </a:p>
        </p:txBody>
      </p:sp>
    </p:spTree>
    <p:extLst>
      <p:ext uri="{BB962C8B-B14F-4D97-AF65-F5344CB8AC3E}">
        <p14:creationId xmlns:p14="http://schemas.microsoft.com/office/powerpoint/2010/main" val="996117027"/>
      </p:ext>
    </p:extLst>
  </p:cSld>
</p:sld>
</file>

<file path=ppt/slides/slide11.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86cb13462784ac7"/>
          <a:stretch xmlns:a="http://schemas.openxmlformats.org/drawingml/2006/main"/>
        </p:blipFill>
        <p:spPr>
          <a:xfrm xmlns:a="http://schemas.openxmlformats.org/drawingml/2006/main">
            <a:off x="609600" y="2284309"/>
            <a:ext cx="10972800" cy="233700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FFC02F-5AE3-463C-928B-25A9F342B614}"/>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“Found a file” and “open was successful”</a:t>
            </a:r>
          </a:p>
        </p:txBody>
      </p:sp>
      <p:sp>
        <p:nvSpPr>
          <p:cNvPr id="3" name="">
            <a:extLst xmlns:a="http://schemas.openxmlformats.org/drawingml/2006/main">
              <a:ext uri="{FF2B5EF4-FFF2-40B4-BE49-F238E27FC236}">
                <a16:creationId xmlns:a16="http://schemas.microsoft.com/office/drawing/2014/main" id="{ADAEECBB-AF63-4646-BFF4-7E7CD5BC8550}"/>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Progress messages narrowed the search</a:t>
            </a:r>
          </a:p>
        </p:txBody>
      </p:sp>
    </p:spTree>
    <p:extLst>
      <p:ext uri="{BB962C8B-B14F-4D97-AF65-F5344CB8AC3E}">
        <p14:creationId xmlns:p14="http://schemas.microsoft.com/office/powerpoint/2010/main" val="5075094"/>
      </p:ext>
    </p:extLst>
  </p:cSld>
</p:sld>
</file>

<file path=ppt/slides/slide12.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b66d6bd0c4c4504"/>
          <a:stretch xmlns:a="http://schemas.openxmlformats.org/drawingml/2006/main"/>
        </p:blipFill>
        <p:spPr>
          <a:xfrm xmlns:a="http://schemas.openxmlformats.org/drawingml/2006/main">
            <a:off x="609600" y="2528554"/>
            <a:ext cx="10972800" cy="184851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6169CF-AD7C-4B6C-B1E6-F720913BA89D}"/>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January 30: repeated markers and corrupted-looking output</a:t>
            </a:r>
          </a:p>
        </p:txBody>
      </p:sp>
      <p:sp>
        <p:nvSpPr>
          <p:cNvPr id="3" name="">
            <a:extLst xmlns:a="http://schemas.openxmlformats.org/drawingml/2006/main">
              <a:ext uri="{FF2B5EF4-FFF2-40B4-BE49-F238E27FC236}">
                <a16:creationId xmlns:a16="http://schemas.microsoft.com/office/drawing/2014/main" id="{B5D6A5EA-4C8A-4F1B-9BBB-DE09BA534FAB}"/>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Repeated traces exposed more behavior</a:t>
            </a:r>
          </a:p>
        </p:txBody>
      </p:sp>
    </p:spTree>
    <p:extLst>
      <p:ext uri="{BB962C8B-B14F-4D97-AF65-F5344CB8AC3E}">
        <p14:creationId xmlns:p14="http://schemas.microsoft.com/office/powerpoint/2010/main" val="824892948"/>
      </p:ext>
    </p:extLst>
  </p:cSld>
</p:sld>
</file>

<file path=ppt/slides/slide13.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0A88A9-28B7-463F-8248-EF1058123FF4}"/>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The later variant changes the entry path</a:t>
            </a:r>
          </a:p>
        </p:txBody>
      </p:sp>
      <p:sp>
        <p:nvSpPr>
          <p:cNvPr id="2" name="">
            <a:extLst xmlns:a="http://schemas.openxmlformats.org/drawingml/2006/main">
              <a:ext uri="{FF2B5EF4-FFF2-40B4-BE49-F238E27FC236}">
                <a16:creationId xmlns:a16="http://schemas.microsoft.com/office/drawing/2014/main" id="{5A26D947-1B09-4015-A71A-0DE911BE48F1}"/>
              </a:ext>
            </a:extLst>
          </p:cNvPr>
          <p:cNvSpPr>
            <a:spLocks xmlns:a="http://schemas.openxmlformats.org/drawingml/2006/main" noGrp="1"/>
          </p:cNvSpPr>
          <p:nvPr/>
        </p:nvSpPr>
        <p:spPr>
          <a:xfrm xmlns:a="http://schemas.openxmlformats.org/drawingml/2006/main">
            <a:off x="609600" y="19526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ENTRY</a:t>
            </a:r>
          </a:p>
        </p:txBody>
      </p:sp>
      <p:sp>
        <p:nvSpPr>
          <p:cNvPr id="3" name="">
            <a:extLst xmlns:a="http://schemas.openxmlformats.org/drawingml/2006/main">
              <a:ext uri="{FF2B5EF4-FFF2-40B4-BE49-F238E27FC236}">
                <a16:creationId xmlns:a16="http://schemas.microsoft.com/office/drawing/2014/main" id="{411E1852-1B5F-46C2-8347-15AE16C4E3C5}"/>
              </a:ext>
            </a:extLst>
          </p:cNvPr>
          <p:cNvSpPr>
            <a:spLocks xmlns:a="http://schemas.openxmlformats.org/drawingml/2006/main" noGrp="1"/>
          </p:cNvSpPr>
          <p:nvPr/>
        </p:nvSpPr>
        <p:spPr>
          <a:xfrm xmlns:a="http://schemas.openxmlformats.org/drawingml/2006/main">
            <a:off x="3476625" y="19526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Redirects execution into appended code</a:t>
            </a:r>
          </a:p>
        </p:txBody>
      </p:sp>
      <p:sp>
        <p:nvSpPr>
          <p:cNvPr id="4" name="">
            <a:extLst xmlns:a="http://schemas.openxmlformats.org/drawingml/2006/main">
              <a:ext uri="{FF2B5EF4-FFF2-40B4-BE49-F238E27FC236}">
                <a16:creationId xmlns:a16="http://schemas.microsoft.com/office/drawing/2014/main" id="{9B1B6C0A-19D4-464D-A759-9EA43622FE17}"/>
              </a:ext>
            </a:extLst>
          </p:cNvPr>
          <p:cNvSpPr>
            <a:spLocks xmlns:a="http://schemas.openxmlformats.org/drawingml/2006/main" noGrp="1"/>
          </p:cNvSpPr>
          <p:nvPr/>
        </p:nvSpPr>
        <p:spPr>
          <a:xfrm xmlns:a="http://schemas.openxmlformats.org/drawingml/2006/main">
            <a:off x="609600" y="3190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SAVED STATE</a:t>
            </a:r>
          </a:p>
        </p:txBody>
      </p:sp>
      <p:sp>
        <p:nvSpPr>
          <p:cNvPr id="5" name="">
            <a:extLst xmlns:a="http://schemas.openxmlformats.org/drawingml/2006/main">
              <a:ext uri="{FF2B5EF4-FFF2-40B4-BE49-F238E27FC236}">
                <a16:creationId xmlns:a16="http://schemas.microsoft.com/office/drawing/2014/main" id="{A237E1C5-0AA7-4ED5-B94A-2F4FB470B289}"/>
              </a:ext>
            </a:extLst>
          </p:cNvPr>
          <p:cNvSpPr>
            <a:spLocks xmlns:a="http://schemas.openxmlformats.org/drawingml/2006/main" noGrp="1"/>
          </p:cNvSpPr>
          <p:nvPr/>
        </p:nvSpPr>
        <p:spPr>
          <a:xfrm xmlns:a="http://schemas.openxmlformats.org/drawingml/2006/main">
            <a:off x="3476625" y="319087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Retains the original entry bytes</a:t>
            </a:r>
          </a:p>
        </p:txBody>
      </p:sp>
      <p:sp>
        <p:nvSpPr>
          <p:cNvPr id="6" name="">
            <a:extLst xmlns:a="http://schemas.openxmlformats.org/drawingml/2006/main">
              <a:ext uri="{FF2B5EF4-FFF2-40B4-BE49-F238E27FC236}">
                <a16:creationId xmlns:a16="http://schemas.microsoft.com/office/drawing/2014/main" id="{1C9415AF-83A6-4323-923E-152E0A4D94CD}"/>
              </a:ext>
            </a:extLst>
          </p:cNvPr>
          <p:cNvSpPr>
            <a:spLocks xmlns:a="http://schemas.openxmlformats.org/drawingml/2006/main" noGrp="1"/>
          </p:cNvSpPr>
          <p:nvPr/>
        </p:nvSpPr>
        <p:spPr>
          <a:xfrm xmlns:a="http://schemas.openxmlformats.org/drawingml/2006/main">
            <a:off x="609600" y="44291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HOST RETURN</a:t>
            </a:r>
          </a:p>
        </p:txBody>
      </p:sp>
      <p:sp>
        <p:nvSpPr>
          <p:cNvPr id="7" name="">
            <a:extLst xmlns:a="http://schemas.openxmlformats.org/drawingml/2006/main">
              <a:ext uri="{FF2B5EF4-FFF2-40B4-BE49-F238E27FC236}">
                <a16:creationId xmlns:a16="http://schemas.microsoft.com/office/drawing/2014/main" id="{F5B5C0AF-80CB-4753-9697-343ED5A87CED}"/>
              </a:ext>
            </a:extLst>
          </p:cNvPr>
          <p:cNvSpPr>
            <a:spLocks xmlns:a="http://schemas.openxmlformats.org/drawingml/2006/main" noGrp="1"/>
          </p:cNvSpPr>
          <p:nvPr/>
        </p:nvSpPr>
        <p:spPr>
          <a:xfrm xmlns:a="http://schemas.openxmlformats.org/drawingml/2006/main">
            <a:off x="3476625" y="44291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Restores those bytes in memory</a:t>
            </a:r>
          </a:p>
        </p:txBody>
      </p:sp>
    </p:spTree>
    <p:extLst>
      <p:ext uri="{BB962C8B-B14F-4D97-AF65-F5344CB8AC3E}">
        <p14:creationId xmlns:p14="http://schemas.microsoft.com/office/powerpoint/2010/main" val="2110600344"/>
      </p:ext>
    </p:extLst>
  </p:cSld>
</p:sld>
</file>

<file path=ppt/slides/slide14.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c9589c19ba4ebd"/>
          <a:stretch xmlns:a="http://schemas.openxmlformats.org/drawingml/2006/main"/>
        </p:blipFill>
        <p:spPr>
          <a:xfrm xmlns:a="http://schemas.openxmlformats.org/drawingml/2006/main">
            <a:off x="952500" y="0"/>
            <a:ext cx="10287000" cy="6858000"/>
          </a:xfrm>
          <a:prstGeom xmlns:a="http://schemas.openxmlformats.org/drawingml/2006/main" prst="rect">
            <a:avLst/>
          </a:prstGeom>
        </p:spPr>
      </p:pic>
    </p:spTree>
    <p:extLst>
      <p:ext uri="{BB962C8B-B14F-4D97-AF65-F5344CB8AC3E}">
        <p14:creationId xmlns:p14="http://schemas.microsoft.com/office/powerpoint/2010/main" val="95898002"/>
      </p:ext>
    </p:extLst>
  </p:cSld>
</p:sld>
</file>

<file path=ppt/slides/slide15.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245dd5436ba5473b"/>
          <a:stretch xmlns:a="http://schemas.openxmlformats.org/drawingml/2006/main"/>
        </p:blipFill>
        <p:spPr>
          <a:xfrm xmlns:a="http://schemas.openxmlformats.org/drawingml/2006/main">
            <a:off x="2422506" y="1714500"/>
            <a:ext cx="7346988" cy="3476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5E5276-5828-4766-B106-711BFB0526A6}"/>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1992code.com / 412 bytes / identified as gzip / 0 of 61</a:t>
            </a:r>
          </a:p>
        </p:txBody>
      </p:sp>
      <p:sp>
        <p:nvSpPr>
          <p:cNvPr id="3" name="">
            <a:extLst xmlns:a="http://schemas.openxmlformats.org/drawingml/2006/main">
              <a:ext uri="{FF2B5EF4-FFF2-40B4-BE49-F238E27FC236}">
                <a16:creationId xmlns:a16="http://schemas.microsoft.com/office/drawing/2014/main" id="{B6806CA5-78BD-46DD-A2FD-F1F4403CEBC8}"/>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This report showed zero detections</a:t>
            </a:r>
          </a:p>
        </p:txBody>
      </p:sp>
    </p:spTree>
    <p:extLst>
      <p:ext uri="{BB962C8B-B14F-4D97-AF65-F5344CB8AC3E}">
        <p14:creationId xmlns:p14="http://schemas.microsoft.com/office/powerpoint/2010/main" val="1712841276"/>
      </p:ext>
    </p:extLst>
  </p:cSld>
</p:sld>
</file>

<file path=ppt/slides/slide16.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7065355a05fd4f39"/>
          <a:stretch xmlns:a="http://schemas.openxmlformats.org/drawingml/2006/main"/>
        </p:blipFill>
        <p:spPr>
          <a:xfrm xmlns:a="http://schemas.openxmlformats.org/drawingml/2006/main">
            <a:off x="3020833" y="1714500"/>
            <a:ext cx="6150334" cy="3476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D67AD2-4D2E-4748-B7A9-ED71F019CFCB}"/>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1992.EXE / 924 bytes / identified as MZ / 18 of 62</a:t>
            </a:r>
          </a:p>
        </p:txBody>
      </p:sp>
      <p:sp>
        <p:nvSpPr>
          <p:cNvPr id="3" name="">
            <a:extLst xmlns:a="http://schemas.openxmlformats.org/drawingml/2006/main">
              <a:ext uri="{FF2B5EF4-FFF2-40B4-BE49-F238E27FC236}">
                <a16:creationId xmlns:a16="http://schemas.microsoft.com/office/drawing/2014/main" id="{BF57B8B8-DE18-48DD-914E-B7CE166BFC21}"/>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Another report showed 18 detections</a:t>
            </a:r>
          </a:p>
        </p:txBody>
      </p:sp>
    </p:spTree>
    <p:extLst>
      <p:ext uri="{BB962C8B-B14F-4D97-AF65-F5344CB8AC3E}">
        <p14:creationId xmlns:p14="http://schemas.microsoft.com/office/powerpoint/2010/main" val="838131502"/>
      </p:ext>
    </p:extLst>
  </p:cSld>
</p:sld>
</file>

<file path=ppt/slides/slide17.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graphicFrame>
        <p:nvGraphicFramePr>
          <p:cNvPr id="4" name=""/>
          <p:cNvGraphicFramePr/>
          <p:nvPr/>
        </p:nvGraphicFramePr>
        <p:xfrm>
          <a:off xmlns:a="http://schemas.openxmlformats.org/drawingml/2006/main" x="609600" y="1905000"/>
          <a:ext xmlns:a="http://schemas.openxmlformats.org/drawingml/2006/main" cx="10972800" cy="3238500"/>
        </p:xfrm>
        <a:graphic xmlns:a="http://schemas.openxmlformats.org/drawingml/2006/main">
          <a:graphicData uri="http://schemas.openxmlformats.org/drawingml/2006/table">
            <a:tbl>
              <a:tblPr/>
              <a:tblGrid>
                <a:gridCol w="3810000"/>
                <a:gridCol w="3429000"/>
                <a:gridCol w="3733800"/>
              </a:tblGrid>
              <a:tr h="1079500">
                <a:tc>
                  <a:txBody>
                    <a:bodyPr/>
                    <a:lstStyle/>
                    <a:p>
                      <a:r>
                        <a:rPr sz="1800" b="1">
                          <a:solidFill>
                            <a:srgbClr val="CAFF45"/>
                          </a:solidFill>
                          <a:latin typeface="Helvetica Neue"/>
                          <a:ea typeface="Helvetica Neue"/>
                          <a:cs typeface="Helvetica Neue"/>
                        </a:rPr>
                        <a:t>Submitted file</a:t>
                      </a:r>
                    </a:p>
                  </a:txBody>
                  <a:tcPr marL="91440" marR="91440" marT="45720" marB="45720">
                    <a:solidFill>
                      <a:srgbClr val="27301E"/>
                    </a:solidFill>
                  </a:tcPr>
                </a:tc>
                <a:tc>
                  <a:txBody>
                    <a:bodyPr/>
                    <a:lstStyle/>
                    <a:p>
                      <a:r>
                        <a:rPr sz="1800" b="1">
                          <a:solidFill>
                            <a:srgbClr val="CAFF45"/>
                          </a:solidFill>
                          <a:latin typeface="Helvetica Neue"/>
                          <a:ea typeface="Helvetica Neue"/>
                          <a:cs typeface="Helvetica Neue"/>
                        </a:rPr>
                        <a:t>Recognized format</a:t>
                      </a:r>
                    </a:p>
                  </a:txBody>
                  <a:tcPr marL="91440" marR="91440" marT="45720" marB="45720">
                    <a:solidFill>
                      <a:srgbClr val="27301E"/>
                    </a:solidFill>
                  </a:tcPr>
                </a:tc>
                <a:tc>
                  <a:txBody>
                    <a:bodyPr/>
                    <a:lstStyle/>
                    <a:p>
                      <a:r>
                        <a:rPr sz="1800" b="1">
                          <a:solidFill>
                            <a:srgbClr val="CAFF45"/>
                          </a:solidFill>
                          <a:latin typeface="Helvetica Neue"/>
                          <a:ea typeface="Helvetica Neue"/>
                          <a:cs typeface="Helvetica Neue"/>
                        </a:rPr>
                        <a:t>Reported detections</a:t>
                      </a:r>
                    </a:p>
                  </a:txBody>
                  <a:tcPr marL="91440" marR="91440" marT="45720" marB="45720">
                    <a:solidFill>
                      <a:srgbClr val="27301E"/>
                    </a:solidFill>
                  </a:tcPr>
                </a:tc>
              </a:tr>
              <a:tr h="1079500">
                <a:tc>
                  <a:txBody>
                    <a:bodyPr/>
                    <a:lstStyle/>
                    <a:p>
                      <a:r>
                        <a:rPr sz="2025" b="0">
                          <a:solidFill>
                            <a:srgbClr val="F0F0E6"/>
                          </a:solidFill>
                          <a:latin typeface="Helvetica Neue"/>
                          <a:ea typeface="Helvetica Neue"/>
                          <a:cs typeface="Helvetica Neue"/>
                        </a:rPr>
                        <a:t>1992code.com</a:t>
                      </a:r>
                    </a:p>
                    <a:p>
                      <a:r>
                        <a:rPr sz="2025" b="0">
                          <a:solidFill>
                            <a:srgbClr val="F0F0E6"/>
                          </a:solidFill>
                          <a:latin typeface="Helvetica Neue"/>
                          <a:ea typeface="Helvetica Neue"/>
                          <a:cs typeface="Helvetica Neue"/>
                        </a:rPr>
                        <a:t>412 bytes</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gzip</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0 / 61</a:t>
                      </a:r>
                    </a:p>
                  </a:txBody>
                  <a:tcPr marL="91440" marR="91440" marT="45720" marB="45720">
                    <a:solidFill>
                      <a:srgbClr val="101310"/>
                    </a:solidFill>
                  </a:tcPr>
                </a:tc>
              </a:tr>
              <a:tr h="1079500">
                <a:tc>
                  <a:txBody>
                    <a:bodyPr/>
                    <a:lstStyle/>
                    <a:p>
                      <a:r>
                        <a:rPr sz="2025" b="0">
                          <a:solidFill>
                            <a:srgbClr val="F0F0E6"/>
                          </a:solidFill>
                          <a:latin typeface="Helvetica Neue"/>
                          <a:ea typeface="Helvetica Neue"/>
                          <a:cs typeface="Helvetica Neue"/>
                        </a:rPr>
                        <a:t>1992.EXE</a:t>
                      </a:r>
                    </a:p>
                    <a:p>
                      <a:r>
                        <a:rPr sz="2025" b="0">
                          <a:solidFill>
                            <a:srgbClr val="F0F0E6"/>
                          </a:solidFill>
                          <a:latin typeface="Helvetica Neue"/>
                          <a:ea typeface="Helvetica Neue"/>
                          <a:cs typeface="Helvetica Neue"/>
                        </a:rPr>
                        <a:t>924 bytes</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MZ</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18 / 62</a:t>
                      </a:r>
                    </a:p>
                  </a:txBody>
                  <a:tcPr marL="91440" marR="91440" marT="45720" marB="45720">
                    <a:solidFill>
                      <a:srgbClr val="101310"/>
                    </a:solidFill>
                  </a:tcPr>
                </a:tc>
              </a:tr>
            </a:tbl>
          </a:graphicData>
        </a:graphic>
      </p:graphicFrame>
      <p:sp>
        <p:nvSpPr>
          <p:cNvPr id="2" name="">
            <a:extLst xmlns:a="http://schemas.openxmlformats.org/drawingml/2006/main">
              <a:ext uri="{FF2B5EF4-FFF2-40B4-BE49-F238E27FC236}">
                <a16:creationId xmlns:a16="http://schemas.microsoft.com/office/drawing/2014/main" id="{4CFBD198-BCED-4AE4-8132-4BDFD4181381}"/>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The submitted objects differed</a:t>
            </a:r>
          </a:p>
        </p:txBody>
      </p:sp>
      <p:sp>
        <p:nvSpPr>
          <p:cNvPr id="3" name="">
            <a:extLst xmlns:a="http://schemas.openxmlformats.org/drawingml/2006/main">
              <a:ext uri="{FF2B5EF4-FFF2-40B4-BE49-F238E27FC236}">
                <a16:creationId xmlns:a16="http://schemas.microsoft.com/office/drawing/2014/main" id="{EDB96FB8-3FE6-4359-A00C-BE117B191D55}"/>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Captured January 22, 2026. Different hashes, formats and analysis ages.</a:t>
            </a:r>
          </a:p>
        </p:txBody>
      </p:sp>
    </p:spTree>
    <p:extLst>
      <p:ext uri="{BB962C8B-B14F-4D97-AF65-F5344CB8AC3E}">
        <p14:creationId xmlns:p14="http://schemas.microsoft.com/office/powerpoint/2010/main" val="415560643"/>
      </p:ext>
    </p:extLst>
  </p:cSld>
</p:sld>
</file>

<file path=ppt/slides/slide18.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4D140E-05E4-459C-A054-2DCDB80E996D}"/>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A green result leaves questions open</a:t>
            </a:r>
          </a:p>
        </p:txBody>
      </p:sp>
      <p:sp>
        <p:nvSpPr>
          <p:cNvPr id="2" name="">
            <a:extLst xmlns:a="http://schemas.openxmlformats.org/drawingml/2006/main">
              <a:ext uri="{FF2B5EF4-FFF2-40B4-BE49-F238E27FC236}">
                <a16:creationId xmlns:a16="http://schemas.microsoft.com/office/drawing/2014/main" id="{9014BB58-F9B8-4F78-B53E-6BEAC639B56E}"/>
              </a:ext>
            </a:extLst>
          </p:cNvPr>
          <p:cNvSpPr>
            <a:spLocks xmlns:a="http://schemas.openxmlformats.org/drawingml/2006/main" noGrp="1"/>
          </p:cNvSpPr>
          <p:nvPr/>
        </p:nvSpPr>
        <p:spPr>
          <a:xfrm xmlns:a="http://schemas.openxmlformats.org/drawingml/2006/main">
            <a:off x="609600" y="20955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CAFF45"/>
                </a:solidFill>
                <a:latin typeface="Helvetica Neue"/>
                <a:ea typeface="Helvetica Neue"/>
                <a:cs typeface="Helvetica Neue"/>
              </a:defRPr>
            </a:pPr>
            <a:r>
              <a:rPr sz="5775" b="1">
                <a:solidFill>
                  <a:srgbClr val="CAFF45"/>
                </a:solidFill>
                <a:latin typeface="Helvetica Neue"/>
                <a:ea typeface="Helvetica Neue"/>
                <a:cs typeface="Helvetica Neue"/>
              </a:rPr>
              <a:t>0 detections</a:t>
            </a:r>
          </a:p>
          <a:p xmlns:a="http://schemas.openxmlformats.org/drawingml/2006/main">
            <a:pPr>
              <a:defRPr sz="5775" b="1">
                <a:solidFill>
                  <a:srgbClr val="CAFF45"/>
                </a:solidFill>
                <a:latin typeface="Helvetica Neue"/>
                <a:ea typeface="Helvetica Neue"/>
                <a:cs typeface="Helvetica Neue"/>
              </a:defRPr>
            </a:pPr>
            <a:r>
              <a:rPr sz="5775" b="1">
                <a:solidFill>
                  <a:srgbClr val="CAFF45"/>
                </a:solidFill>
                <a:latin typeface="Helvetica Neue"/>
                <a:ea typeface="Helvetica Neue"/>
                <a:cs typeface="Helvetica Neue"/>
              </a:rPr>
              <a:t>≠ proof of safety</a:t>
            </a:r>
          </a:p>
        </p:txBody>
      </p:sp>
      <p:sp>
        <p:nvSpPr>
          <p:cNvPr id="3" name="">
            <a:extLst xmlns:a="http://schemas.openxmlformats.org/drawingml/2006/main">
              <a:ext uri="{FF2B5EF4-FFF2-40B4-BE49-F238E27FC236}">
                <a16:creationId xmlns:a16="http://schemas.microsoft.com/office/drawing/2014/main" id="{CDC5C82B-875E-4887-AEC4-1C3765E15BB8}"/>
              </a:ext>
            </a:extLst>
          </p:cNvPr>
          <p:cNvSpPr>
            <a:spLocks xmlns:a="http://schemas.openxmlformats.org/drawingml/2006/main" noGrp="1"/>
          </p:cNvSpPr>
          <p:nvPr/>
        </p:nvSpPr>
        <p:spPr>
          <a:xfrm xmlns:a="http://schemas.openxmlformats.org/drawingml/2006/main">
            <a:off x="647700" y="44291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0E6"/>
                </a:solidFill>
                <a:latin typeface="Helvetica Neue"/>
                <a:ea typeface="Helvetica Neue"/>
                <a:cs typeface="Helvetica Neue"/>
              </a:defRPr>
            </a:pPr>
            <a:r>
              <a:rPr sz="2700" b="0">
                <a:solidFill>
                  <a:srgbClr val="F0F0E6"/>
                </a:solidFill>
                <a:latin typeface="Helvetica Neue"/>
                <a:ea typeface="Helvetica Neue"/>
                <a:cs typeface="Helvetica Neue"/>
              </a:rPr>
              <a:t>File identity and execution evidence still matter.</a:t>
            </a:r>
          </a:p>
        </p:txBody>
      </p:sp>
    </p:spTree>
    <p:extLst>
      <p:ext uri="{BB962C8B-B14F-4D97-AF65-F5344CB8AC3E}">
        <p14:creationId xmlns:p14="http://schemas.microsoft.com/office/powerpoint/2010/main" val="1062669356"/>
      </p:ext>
    </p:extLst>
  </p:cSld>
</p:sld>
</file>

<file path=ppt/slides/slide19.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390c83034fa465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889844004"/>
      </p:ext>
    </p:extLst>
  </p:cSld>
</p:sld>
</file>

<file path=ppt/slides/slide20.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53AD505-3C77-4503-B52C-0B1640D5C73E}"/>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My cleaner: disinfect.asm</a:t>
            </a:r>
          </a:p>
        </p:txBody>
      </p:sp>
      <p:sp>
        <p:nvSpPr>
          <p:cNvPr id="2" name="">
            <a:extLst xmlns:a="http://schemas.openxmlformats.org/drawingml/2006/main">
              <a:ext uri="{FF2B5EF4-FFF2-40B4-BE49-F238E27FC236}">
                <a16:creationId xmlns:a16="http://schemas.microsoft.com/office/drawing/2014/main" id="{92491F4B-DE49-4168-87DE-215F939EDD77}"/>
              </a:ext>
            </a:extLst>
          </p:cNvPr>
          <p:cNvSpPr>
            <a:spLocks xmlns:a="http://schemas.openxmlformats.org/drawingml/2006/main" noGrp="1"/>
          </p:cNvSpPr>
          <p:nvPr/>
        </p:nvSpPr>
        <p:spPr>
          <a:xfrm xmlns:a="http://schemas.openxmlformats.org/drawingml/2006/main">
            <a:off x="609600" y="20955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CAFF45"/>
                </a:solidFill>
                <a:latin typeface="Helvetica Neue"/>
                <a:ea typeface="Helvetica Neue"/>
                <a:cs typeface="Helvetica Neue"/>
              </a:defRPr>
            </a:pPr>
            <a:r>
              <a:rPr sz="5775" b="1">
                <a:solidFill>
                  <a:srgbClr val="CAFF45"/>
                </a:solidFill>
                <a:latin typeface="Helvetica Neue"/>
                <a:ea typeface="Helvetica Neue"/>
                <a:cs typeface="Helvetica Neue"/>
              </a:rPr>
              <a:t>Restore the entry.</a:t>
            </a:r>
          </a:p>
          <a:p xmlns:a="http://schemas.openxmlformats.org/drawingml/2006/main">
            <a:pPr>
              <a:defRPr sz="5775" b="1">
                <a:solidFill>
                  <a:srgbClr val="CAFF45"/>
                </a:solidFill>
                <a:latin typeface="Helvetica Neue"/>
                <a:ea typeface="Helvetica Neue"/>
                <a:cs typeface="Helvetica Neue"/>
              </a:defRPr>
            </a:pPr>
            <a:r>
              <a:rPr sz="5775" b="1">
                <a:solidFill>
                  <a:srgbClr val="CAFF45"/>
                </a:solidFill>
                <a:latin typeface="Helvetica Neue"/>
                <a:ea typeface="Helvetica Neue"/>
                <a:cs typeface="Helvetica Neue"/>
              </a:rPr>
              <a:t>Remove the appendage.</a:t>
            </a:r>
          </a:p>
        </p:txBody>
      </p:sp>
      <p:sp>
        <p:nvSpPr>
          <p:cNvPr id="3" name="">
            <a:extLst xmlns:a="http://schemas.openxmlformats.org/drawingml/2006/main">
              <a:ext uri="{FF2B5EF4-FFF2-40B4-BE49-F238E27FC236}">
                <a16:creationId xmlns:a16="http://schemas.microsoft.com/office/drawing/2014/main" id="{B52BF6D6-801F-40E0-BE8A-8FF93B2E5694}"/>
              </a:ext>
            </a:extLst>
          </p:cNvPr>
          <p:cNvSpPr>
            <a:spLocks xmlns:a="http://schemas.openxmlformats.org/drawingml/2006/main" noGrp="1"/>
          </p:cNvSpPr>
          <p:nvPr/>
        </p:nvSpPr>
        <p:spPr>
          <a:xfrm xmlns:a="http://schemas.openxmlformats.org/drawingml/2006/main">
            <a:off x="647700" y="44291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0E6"/>
                </a:solidFill>
                <a:latin typeface="Helvetica Neue"/>
                <a:ea typeface="Helvetica Neue"/>
                <a:cs typeface="Helvetica Neue"/>
              </a:defRPr>
            </a:pPr>
            <a:r>
              <a:rPr sz="2700" b="0">
                <a:solidFill>
                  <a:srgbClr val="F0F0E6"/>
                </a:solidFill>
                <a:latin typeface="Helvetica Neue"/>
                <a:ea typeface="Helvetica Neue"/>
                <a:cs typeface="Helvetica Neue"/>
              </a:rPr>
              <a:t>A separate DOS tool works on the file on disk.</a:t>
            </a:r>
          </a:p>
        </p:txBody>
      </p:sp>
    </p:spTree>
    <p:extLst>
      <p:ext uri="{BB962C8B-B14F-4D97-AF65-F5344CB8AC3E}">
        <p14:creationId xmlns:p14="http://schemas.microsoft.com/office/powerpoint/2010/main" val="1555367341"/>
      </p:ext>
    </p:extLst>
  </p:cSld>
</p:sld>
</file>

<file path=ppt/slides/slide21.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782284e15c844f70"/>
          <a:stretch xmlns:a="http://schemas.openxmlformats.org/drawingml/2006/main"/>
        </p:blipFill>
        <p:spPr>
          <a:xfrm xmlns:a="http://schemas.openxmlformats.org/drawingml/2006/main">
            <a:off x="609600" y="2363179"/>
            <a:ext cx="10972800" cy="2179267"/>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293E54-B26E-4578-B597-3F47D8A4320E}"/>
              </a:ext>
            </a:extLst>
          </p:cNvPr>
          <p:cNvSpPr>
            <a:spLocks xmlns:a="http://schemas.openxmlformats.org/drawingml/2006/main" noGrp="1"/>
          </p:cNvSpPr>
          <p:nvPr/>
        </p:nvSpPr>
        <p:spPr>
          <a:xfrm xmlns:a="http://schemas.openxmlformats.org/drawingml/2006/main">
            <a:off x="609600" y="547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AFF45"/>
                </a:solidFill>
                <a:latin typeface="Helvetica Neue"/>
                <a:ea typeface="Helvetica Neue"/>
                <a:cs typeface="Helvetica Neue"/>
              </a:defRPr>
            </a:pPr>
            <a:r>
              <a:rPr sz="2025" b="0">
                <a:solidFill>
                  <a:srgbClr val="CAFF45"/>
                </a:solidFill>
                <a:latin typeface="Helvetica Neue"/>
                <a:ea typeface="Helvetica Neue"/>
                <a:cs typeface="Helvetica Neue"/>
              </a:rPr>
              <a:t>RD: read / CL: close / RE: restore entry / EX: exit</a:t>
            </a:r>
          </a:p>
        </p:txBody>
      </p:sp>
      <p:sp>
        <p:nvSpPr>
          <p:cNvPr id="3" name="">
            <a:extLst xmlns:a="http://schemas.openxmlformats.org/drawingml/2006/main">
              <a:ext uri="{FF2B5EF4-FFF2-40B4-BE49-F238E27FC236}">
                <a16:creationId xmlns:a16="http://schemas.microsoft.com/office/drawing/2014/main" id="{D69D6966-C780-4E01-9C08-D535E2870EAA}"/>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This trace belongs to the variant</a:t>
            </a:r>
          </a:p>
        </p:txBody>
      </p:sp>
    </p:spTree>
    <p:extLst>
      <p:ext uri="{BB962C8B-B14F-4D97-AF65-F5344CB8AC3E}">
        <p14:creationId xmlns:p14="http://schemas.microsoft.com/office/powerpoint/2010/main" val="1669263380"/>
      </p:ext>
    </p:extLst>
  </p:cSld>
</p:sld>
</file>

<file path=ppt/slides/slide22.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A70CB2-EE49-4308-B020-8C74C287E1E1}"/>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A jump byte is a weak detector</a:t>
            </a:r>
          </a:p>
        </p:txBody>
      </p:sp>
      <p:sp>
        <p:nvSpPr>
          <p:cNvPr id="2" name="">
            <a:extLst xmlns:a="http://schemas.openxmlformats.org/drawingml/2006/main">
              <a:ext uri="{FF2B5EF4-FFF2-40B4-BE49-F238E27FC236}">
                <a16:creationId xmlns:a16="http://schemas.microsoft.com/office/drawing/2014/main" id="{74B08098-37E8-41CB-911B-289DECA27E2F}"/>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CURRENT TEST</a:t>
            </a:r>
          </a:p>
        </p:txBody>
      </p:sp>
      <p:sp>
        <p:nvSpPr>
          <p:cNvPr id="3" name="">
            <a:extLst xmlns:a="http://schemas.openxmlformats.org/drawingml/2006/main">
              <a:ext uri="{FF2B5EF4-FFF2-40B4-BE49-F238E27FC236}">
                <a16:creationId xmlns:a16="http://schemas.microsoft.com/office/drawing/2014/main" id="{CADE5E13-3AA4-4843-A41E-079B3B20AE39}"/>
              </a:ext>
            </a:extLst>
          </p:cNvPr>
          <p:cNvSpPr>
            <a:spLocks xmlns:a="http://schemas.openxmlformats.org/drawingml/2006/main" noGrp="1"/>
          </p:cNvSpPr>
          <p:nvPr/>
        </p:nvSpPr>
        <p:spPr>
          <a:xfrm xmlns:a="http://schemas.openxmlformats.org/drawingml/2006/main">
            <a:off x="609600" y="2857500"/>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First byte is E9</a:t>
            </a:r>
          </a:p>
        </p:txBody>
      </p:sp>
      <p:sp>
        <p:nvSpPr>
          <p:cNvPr id="4" name="">
            <a:extLst xmlns:a="http://schemas.openxmlformats.org/drawingml/2006/main">
              <a:ext uri="{FF2B5EF4-FFF2-40B4-BE49-F238E27FC236}">
                <a16:creationId xmlns:a16="http://schemas.microsoft.com/office/drawing/2014/main" id="{030DE91D-2167-41D5-A5FC-3D15B77AA4E2}"/>
              </a:ext>
            </a:extLst>
          </p:cNvPr>
          <p:cNvSpPr>
            <a:spLocks xmlns:a="http://schemas.openxmlformats.org/drawingml/2006/main" noGrp="1"/>
          </p:cNvSpPr>
          <p:nvPr/>
        </p:nvSpPr>
        <p:spPr>
          <a:xfrm xmlns:a="http://schemas.openxmlformats.org/drawingml/2006/main">
            <a:off x="657225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LIMITATION</a:t>
            </a:r>
          </a:p>
        </p:txBody>
      </p:sp>
      <p:sp>
        <p:nvSpPr>
          <p:cNvPr id="5" name="">
            <a:extLst xmlns:a="http://schemas.openxmlformats.org/drawingml/2006/main">
              <a:ext uri="{FF2B5EF4-FFF2-40B4-BE49-F238E27FC236}">
                <a16:creationId xmlns:a16="http://schemas.microsoft.com/office/drawing/2014/main" id="{4D0AA9EF-CE66-42E0-9916-11FA62D3CC54}"/>
              </a:ext>
            </a:extLst>
          </p:cNvPr>
          <p:cNvSpPr>
            <a:spLocks xmlns:a="http://schemas.openxmlformats.org/drawingml/2006/main" noGrp="1"/>
          </p:cNvSpPr>
          <p:nvPr/>
        </p:nvSpPr>
        <p:spPr>
          <a:xfrm xmlns:a="http://schemas.openxmlformats.org/drawingml/2006/main">
            <a:off x="6572250" y="2857500"/>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Legitimate .COM files</a:t>
            </a:r>
          </a:p>
          <a:p xmlns:a="http://schemas.openxmlformats.org/drawingml/2006/main">
            <a:pPr>
              <a:defRPr sz="3225" b="0">
                <a:solidFill>
                  <a:srgbClr val="F0F0E6"/>
                </a:solidFill>
                <a:latin typeface="Helvetica Neue"/>
                <a:ea typeface="Helvetica Neue"/>
                <a:cs typeface="Helvetica Neue"/>
              </a:defRPr>
            </a:pPr>
            <a:r>
              <a:rPr sz="3225" b="0">
                <a:solidFill>
                  <a:srgbClr val="F0F0E6"/>
                </a:solidFill>
                <a:latin typeface="Helvetica Neue"/>
                <a:ea typeface="Helvetica Neue"/>
                <a:cs typeface="Helvetica Neue"/>
              </a:rPr>
              <a:t>can start with a jump</a:t>
            </a:r>
          </a:p>
        </p:txBody>
      </p:sp>
      <p:sp>
        <p:nvSpPr>
          <p:cNvPr id="6" name="">
            <a:extLst xmlns:a="http://schemas.openxmlformats.org/drawingml/2006/main">
              <a:ext uri="{FF2B5EF4-FFF2-40B4-BE49-F238E27FC236}">
                <a16:creationId xmlns:a16="http://schemas.microsoft.com/office/drawing/2014/main" id="{059B1D55-872A-4754-B981-FCF66F65A730}"/>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A candidate match alone cannot justify rewriting a file.</a:t>
            </a:r>
          </a:p>
        </p:txBody>
      </p:sp>
    </p:spTree>
    <p:extLst>
      <p:ext uri="{BB962C8B-B14F-4D97-AF65-F5344CB8AC3E}">
        <p14:creationId xmlns:p14="http://schemas.microsoft.com/office/powerpoint/2010/main" val="1511196874"/>
      </p:ext>
    </p:extLst>
  </p:cSld>
</p:sld>
</file>

<file path=ppt/slides/slide23.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737B3C-62BE-4156-8CB7-582DAF166558}"/>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Recovery deserves a before-and-after test</a:t>
            </a:r>
          </a:p>
        </p:txBody>
      </p:sp>
      <p:sp>
        <p:nvSpPr>
          <p:cNvPr id="2" name="">
            <a:extLst xmlns:a="http://schemas.openxmlformats.org/drawingml/2006/main">
              <a:ext uri="{FF2B5EF4-FFF2-40B4-BE49-F238E27FC236}">
                <a16:creationId xmlns:a16="http://schemas.microsoft.com/office/drawing/2014/main" id="{E0D4E7B4-AD6A-439A-9140-F32F2F6578AF}"/>
              </a:ext>
            </a:extLst>
          </p:cNvPr>
          <p:cNvSpPr>
            <a:spLocks xmlns:a="http://schemas.openxmlformats.org/drawingml/2006/main" noGrp="1"/>
          </p:cNvSpPr>
          <p:nvPr/>
        </p:nvSpPr>
        <p:spPr>
          <a:xfrm xmlns:a="http://schemas.openxmlformats.org/drawingml/2006/main">
            <a:off x="609600" y="19526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ORIGINAL</a:t>
            </a:r>
          </a:p>
        </p:txBody>
      </p:sp>
      <p:sp>
        <p:nvSpPr>
          <p:cNvPr id="3" name="">
            <a:extLst xmlns:a="http://schemas.openxmlformats.org/drawingml/2006/main">
              <a:ext uri="{FF2B5EF4-FFF2-40B4-BE49-F238E27FC236}">
                <a16:creationId xmlns:a16="http://schemas.microsoft.com/office/drawing/2014/main" id="{27E6086C-F86B-4F7A-BB95-D92FA9F4F8A6}"/>
              </a:ext>
            </a:extLst>
          </p:cNvPr>
          <p:cNvSpPr>
            <a:spLocks xmlns:a="http://schemas.openxmlformats.org/drawingml/2006/main" noGrp="1"/>
          </p:cNvSpPr>
          <p:nvPr/>
        </p:nvSpPr>
        <p:spPr>
          <a:xfrm xmlns:a="http://schemas.openxmlformats.org/drawingml/2006/main">
            <a:off x="3476625" y="19526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Preserved file and hash</a:t>
            </a:r>
          </a:p>
        </p:txBody>
      </p:sp>
      <p:sp>
        <p:nvSpPr>
          <p:cNvPr id="4" name="">
            <a:extLst xmlns:a="http://schemas.openxmlformats.org/drawingml/2006/main">
              <a:ext uri="{FF2B5EF4-FFF2-40B4-BE49-F238E27FC236}">
                <a16:creationId xmlns:a16="http://schemas.microsoft.com/office/drawing/2014/main" id="{70AF37A5-ECA1-42D0-A5CB-591D977EB709}"/>
              </a:ext>
            </a:extLst>
          </p:cNvPr>
          <p:cNvSpPr>
            <a:spLocks xmlns:a="http://schemas.openxmlformats.org/drawingml/2006/main" noGrp="1"/>
          </p:cNvSpPr>
          <p:nvPr/>
        </p:nvSpPr>
        <p:spPr>
          <a:xfrm xmlns:a="http://schemas.openxmlformats.org/drawingml/2006/main">
            <a:off x="609600" y="3190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CLEANED</a:t>
            </a:r>
          </a:p>
        </p:txBody>
      </p:sp>
      <p:sp>
        <p:nvSpPr>
          <p:cNvPr id="5" name="">
            <a:extLst xmlns:a="http://schemas.openxmlformats.org/drawingml/2006/main">
              <a:ext uri="{FF2B5EF4-FFF2-40B4-BE49-F238E27FC236}">
                <a16:creationId xmlns:a16="http://schemas.microsoft.com/office/drawing/2014/main" id="{492CEB12-779A-4968-8F5F-A47362647FCE}"/>
              </a:ext>
            </a:extLst>
          </p:cNvPr>
          <p:cNvSpPr>
            <a:spLocks xmlns:a="http://schemas.openxmlformats.org/drawingml/2006/main" noGrp="1"/>
          </p:cNvSpPr>
          <p:nvPr/>
        </p:nvSpPr>
        <p:spPr>
          <a:xfrm xmlns:a="http://schemas.openxmlformats.org/drawingml/2006/main">
            <a:off x="3476625" y="319087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Byte comparison and expected behavior</a:t>
            </a:r>
          </a:p>
        </p:txBody>
      </p:sp>
      <p:sp>
        <p:nvSpPr>
          <p:cNvPr id="6" name="">
            <a:extLst xmlns:a="http://schemas.openxmlformats.org/drawingml/2006/main">
              <a:ext uri="{FF2B5EF4-FFF2-40B4-BE49-F238E27FC236}">
                <a16:creationId xmlns:a16="http://schemas.microsoft.com/office/drawing/2014/main" id="{B6B9A97A-8DBC-4ADA-B6FC-E53A1157EAF2}"/>
              </a:ext>
            </a:extLst>
          </p:cNvPr>
          <p:cNvSpPr>
            <a:spLocks xmlns:a="http://schemas.openxmlformats.org/drawingml/2006/main" noGrp="1"/>
          </p:cNvSpPr>
          <p:nvPr/>
        </p:nvSpPr>
        <p:spPr>
          <a:xfrm xmlns:a="http://schemas.openxmlformats.org/drawingml/2006/main">
            <a:off x="609600" y="44291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CONTROLS</a:t>
            </a:r>
          </a:p>
        </p:txBody>
      </p:sp>
      <p:sp>
        <p:nvSpPr>
          <p:cNvPr id="7" name="">
            <a:extLst xmlns:a="http://schemas.openxmlformats.org/drawingml/2006/main">
              <a:ext uri="{FF2B5EF4-FFF2-40B4-BE49-F238E27FC236}">
                <a16:creationId xmlns:a16="http://schemas.microsoft.com/office/drawing/2014/main" id="{F4D080D2-26E1-444B-9E4C-5294297A13DA}"/>
              </a:ext>
            </a:extLst>
          </p:cNvPr>
          <p:cNvSpPr>
            <a:spLocks xmlns:a="http://schemas.openxmlformats.org/drawingml/2006/main" noGrp="1"/>
          </p:cNvSpPr>
          <p:nvPr/>
        </p:nvSpPr>
        <p:spPr>
          <a:xfrm xmlns:a="http://schemas.openxmlformats.org/drawingml/2006/main">
            <a:off x="3476625" y="44291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Uninfected and unsupported files</a:t>
            </a:r>
          </a:p>
        </p:txBody>
      </p:sp>
      <p:sp>
        <p:nvSpPr>
          <p:cNvPr id="8" name="">
            <a:extLst xmlns:a="http://schemas.openxmlformats.org/drawingml/2006/main">
              <a:ext uri="{FF2B5EF4-FFF2-40B4-BE49-F238E27FC236}">
                <a16:creationId xmlns:a16="http://schemas.microsoft.com/office/drawing/2014/main" id="{560776A3-402D-4F38-9E04-D2A779E2977B}"/>
              </a:ext>
            </a:extLst>
          </p:cNvPr>
          <p:cNvSpPr>
            <a:spLocks xmlns:a="http://schemas.openxmlformats.org/drawingml/2006/main" noGrp="1"/>
          </p:cNvSpPr>
          <p:nvPr/>
        </p:nvSpPr>
        <p:spPr>
          <a:xfrm xmlns:a="http://schemas.openxmlformats.org/drawingml/2006/main">
            <a:off x="609600" y="59436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7B09D"/>
                </a:solidFill>
                <a:latin typeface="Helvetica Neue"/>
                <a:ea typeface="Helvetica Neue"/>
                <a:cs typeface="Helvetica Neue"/>
              </a:defRPr>
            </a:pPr>
            <a:r>
              <a:rPr sz="1575" b="0">
                <a:solidFill>
                  <a:srgbClr val="A7B09D"/>
                </a:solidFill>
                <a:latin typeface="Helvetica Neue"/>
                <a:ea typeface="Helvetica Neue"/>
                <a:cs typeface="Helvetica Neue"/>
              </a:rPr>
              <a:t>Proposed demonstration evidence, not claimed measurements.</a:t>
            </a:r>
          </a:p>
        </p:txBody>
      </p:sp>
    </p:spTree>
    <p:extLst>
      <p:ext uri="{BB962C8B-B14F-4D97-AF65-F5344CB8AC3E}">
        <p14:creationId xmlns:p14="http://schemas.microsoft.com/office/powerpoint/2010/main" val="804079660"/>
      </p:ext>
    </p:extLst>
  </p:cSld>
</p:sld>
</file>

<file path=ppt/slides/slide24.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eac82ad87244d4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577630039"/>
      </p:ext>
    </p:extLst>
  </p:cSld>
</p:sld>
</file>

<file path=ppt/slides/slide25.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graphicFrame>
        <p:nvGraphicFramePr>
          <p:cNvPr id="3" name=""/>
          <p:cNvGraphicFramePr/>
          <p:nvPr/>
        </p:nvGraphicFramePr>
        <p:xfrm>
          <a:off xmlns:a="http://schemas.openxmlformats.org/drawingml/2006/main" x="609600" y="1905000"/>
          <a:ext xmlns:a="http://schemas.openxmlformats.org/drawingml/2006/main" cx="10972800" cy="3238500"/>
        </p:xfrm>
        <a:graphic xmlns:a="http://schemas.openxmlformats.org/drawingml/2006/main">
          <a:graphicData uri="http://schemas.openxmlformats.org/drawingml/2006/table">
            <a:tbl>
              <a:tblPr/>
              <a:tblGrid>
                <a:gridCol w="3476625"/>
                <a:gridCol w="3476625"/>
                <a:gridCol w="4019550"/>
              </a:tblGrid>
              <a:tr h="809625">
                <a:tc>
                  <a:txBody>
                    <a:bodyPr/>
                    <a:lstStyle/>
                    <a:p>
                      <a:r>
                        <a:rPr sz="1800" b="1">
                          <a:solidFill>
                            <a:srgbClr val="CAFF45"/>
                          </a:solidFill>
                          <a:latin typeface="Helvetica Neue"/>
                          <a:ea typeface="Helvetica Neue"/>
                          <a:cs typeface="Helvetica Neue"/>
                        </a:rPr>
                        <a:t>Historical observation</a:t>
                      </a:r>
                    </a:p>
                  </a:txBody>
                  <a:tcPr marL="91440" marR="91440" marT="45720" marB="45720">
                    <a:solidFill>
                      <a:srgbClr val="27301E"/>
                    </a:solidFill>
                  </a:tcPr>
                </a:tc>
                <a:tc>
                  <a:txBody>
                    <a:bodyPr/>
                    <a:lstStyle/>
                    <a:p>
                      <a:r>
                        <a:rPr sz="1800" b="1">
                          <a:solidFill>
                            <a:srgbClr val="CAFF45"/>
                          </a:solidFill>
                          <a:latin typeface="Helvetica Neue"/>
                          <a:ea typeface="Helvetica Neue"/>
                          <a:cs typeface="Helvetica Neue"/>
                        </a:rPr>
                        <a:t>Modern question</a:t>
                      </a:r>
                    </a:p>
                  </a:txBody>
                  <a:tcPr marL="91440" marR="91440" marT="45720" marB="45720">
                    <a:solidFill>
                      <a:srgbClr val="27301E"/>
                    </a:solidFill>
                  </a:tcPr>
                </a:tc>
                <a:tc>
                  <a:txBody>
                    <a:bodyPr/>
                    <a:lstStyle/>
                    <a:p>
                      <a:r>
                        <a:rPr sz="1800" b="1">
                          <a:solidFill>
                            <a:srgbClr val="CAFF45"/>
                          </a:solidFill>
                          <a:latin typeface="Helvetica Neue"/>
                          <a:ea typeface="Helvetica Neue"/>
                          <a:cs typeface="Helvetica Neue"/>
                        </a:rPr>
                        <a:t>Evidence to seek</a:t>
                      </a:r>
                    </a:p>
                  </a:txBody>
                  <a:tcPr marL="91440" marR="91440" marT="45720" marB="45720">
                    <a:solidFill>
                      <a:srgbClr val="27301E"/>
                    </a:solidFill>
                  </a:tcPr>
                </a:tc>
              </a:tr>
              <a:tr h="809625">
                <a:tc>
                  <a:txBody>
                    <a:bodyPr/>
                    <a:lstStyle/>
                    <a:p>
                      <a:r>
                        <a:rPr sz="2025" b="0">
                          <a:solidFill>
                            <a:srgbClr val="F0F0E6"/>
                          </a:solidFill>
                          <a:latin typeface="Helvetica Neue"/>
                          <a:ea typeface="Helvetica Neue"/>
                          <a:cs typeface="Helvetica Neue"/>
                        </a:rPr>
                        <a:t>Execution path changes</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Who altered execution?</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Provenance and</a:t>
                      </a:r>
                    </a:p>
                    <a:p>
                      <a:r>
                        <a:rPr sz="2025" b="0">
                          <a:solidFill>
                            <a:srgbClr val="F0F0E6"/>
                          </a:solidFill>
                          <a:latin typeface="Helvetica Neue"/>
                          <a:ea typeface="Helvetica Neue"/>
                          <a:cs typeface="Helvetica Neue"/>
                        </a:rPr>
                        <a:t>state difference</a:t>
                      </a:r>
                    </a:p>
                  </a:txBody>
                  <a:tcPr marL="91440" marR="91440" marT="45720" marB="45720">
                    <a:solidFill>
                      <a:srgbClr val="101310"/>
                    </a:solidFill>
                  </a:tcPr>
                </a:tc>
              </a:tr>
              <a:tr h="809625">
                <a:tc>
                  <a:txBody>
                    <a:bodyPr/>
                    <a:lstStyle/>
                    <a:p>
                      <a:r>
                        <a:rPr sz="2025" b="0">
                          <a:solidFill>
                            <a:srgbClr val="F0F0E6"/>
                          </a:solidFill>
                          <a:latin typeface="Helvetica Neue"/>
                          <a:ea typeface="Helvetica Neue"/>
                          <a:cs typeface="Helvetica Neue"/>
                        </a:rPr>
                        <a:t>Marker in a file</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What does it establish?</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Content plus context</a:t>
                      </a:r>
                    </a:p>
                  </a:txBody>
                  <a:tcPr marL="91440" marR="91440" marT="45720" marB="45720">
                    <a:solidFill>
                      <a:srgbClr val="101310"/>
                    </a:solidFill>
                  </a:tcPr>
                </a:tc>
              </a:tr>
              <a:tr h="809625">
                <a:tc>
                  <a:txBody>
                    <a:bodyPr/>
                    <a:lstStyle/>
                    <a:p>
                      <a:r>
                        <a:rPr sz="2025" b="0">
                          <a:solidFill>
                            <a:srgbClr val="F0F0E6"/>
                          </a:solidFill>
                          <a:latin typeface="Helvetica Neue"/>
                          <a:ea typeface="Helvetica Neue"/>
                          <a:cs typeface="Helvetica Neue"/>
                        </a:rPr>
                        <a:t>Host behavior resumes</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What happened first?</a:t>
                      </a:r>
                    </a:p>
                  </a:txBody>
                  <a:tcPr marL="91440" marR="91440" marT="45720" marB="45720">
                    <a:solidFill>
                      <a:srgbClr val="101310"/>
                    </a:solidFill>
                  </a:tcPr>
                </a:tc>
                <a:tc>
                  <a:txBody>
                    <a:bodyPr/>
                    <a:lstStyle/>
                    <a:p>
                      <a:r>
                        <a:rPr sz="2025" b="0">
                          <a:solidFill>
                            <a:srgbClr val="F0F0E6"/>
                          </a:solidFill>
                          <a:latin typeface="Helvetica Neue"/>
                          <a:ea typeface="Helvetica Neue"/>
                          <a:cs typeface="Helvetica Neue"/>
                        </a:rPr>
                        <a:t>Event sequence and</a:t>
                      </a:r>
                    </a:p>
                    <a:p>
                      <a:r>
                        <a:rPr sz="2025" b="0">
                          <a:solidFill>
                            <a:srgbClr val="F0F0E6"/>
                          </a:solidFill>
                          <a:latin typeface="Helvetica Neue"/>
                          <a:ea typeface="Helvetica Neue"/>
                          <a:cs typeface="Helvetica Neue"/>
                        </a:rPr>
                        <a:t>process lineage</a:t>
                      </a:r>
                    </a:p>
                  </a:txBody>
                  <a:tcPr marL="91440" marR="91440" marT="45720" marB="45720">
                    <a:solidFill>
                      <a:srgbClr val="101310"/>
                    </a:solidFill>
                  </a:tcPr>
                </a:tc>
              </a:tr>
            </a:tbl>
          </a:graphicData>
        </a:graphic>
      </p:graphicFrame>
      <p:sp>
        <p:nvSpPr>
          <p:cNvPr id="2" name="">
            <a:extLst xmlns:a="http://schemas.openxmlformats.org/drawingml/2006/main">
              <a:ext uri="{FF2B5EF4-FFF2-40B4-BE49-F238E27FC236}">
                <a16:creationId xmlns:a16="http://schemas.microsoft.com/office/drawing/2014/main" id="{BD5222E6-DC12-40A8-A9FC-BB979111CEF0}"/>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Modern parallels: evidence survives the era</a:t>
            </a:r>
          </a:p>
        </p:txBody>
      </p:sp>
    </p:spTree>
    <p:extLst>
      <p:ext uri="{BB962C8B-B14F-4D97-AF65-F5344CB8AC3E}">
        <p14:creationId xmlns:p14="http://schemas.microsoft.com/office/powerpoint/2010/main" val="1366644288"/>
      </p:ext>
    </p:extLst>
  </p:cSld>
</p:sld>
</file>

<file path=ppt/slides/slide26.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2EBA7E-804D-4B17-9AEC-A3C824A31D21}"/>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What the reconstruction taught me</a:t>
            </a:r>
          </a:p>
        </p:txBody>
      </p:sp>
      <p:sp>
        <p:nvSpPr>
          <p:cNvPr id="2" name="">
            <a:extLst xmlns:a="http://schemas.openxmlformats.org/drawingml/2006/main">
              <a:ext uri="{FF2B5EF4-FFF2-40B4-BE49-F238E27FC236}">
                <a16:creationId xmlns:a16="http://schemas.microsoft.com/office/drawing/2014/main" id="{EA93F202-DAAB-404F-98C2-4B66546A13D0}"/>
              </a:ext>
            </a:extLst>
          </p:cNvPr>
          <p:cNvSpPr>
            <a:spLocks xmlns:a="http://schemas.openxmlformats.org/drawingml/2006/main" noGrp="1"/>
          </p:cNvSpPr>
          <p:nvPr/>
        </p:nvSpPr>
        <p:spPr>
          <a:xfrm xmlns:a="http://schemas.openxmlformats.org/drawingml/2006/main">
            <a:off x="609600" y="19526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SOURCE</a:t>
            </a:r>
          </a:p>
        </p:txBody>
      </p:sp>
      <p:sp>
        <p:nvSpPr>
          <p:cNvPr id="3" name="">
            <a:extLst xmlns:a="http://schemas.openxmlformats.org/drawingml/2006/main">
              <a:ext uri="{FF2B5EF4-FFF2-40B4-BE49-F238E27FC236}">
                <a16:creationId xmlns:a16="http://schemas.microsoft.com/office/drawing/2014/main" id="{E7DEFF9B-3DEF-434C-9077-A07C93584C0A}"/>
              </a:ext>
            </a:extLst>
          </p:cNvPr>
          <p:cNvSpPr>
            <a:spLocks xmlns:a="http://schemas.openxmlformats.org/drawingml/2006/main" noGrp="1"/>
          </p:cNvSpPr>
          <p:nvPr/>
        </p:nvSpPr>
        <p:spPr>
          <a:xfrm xmlns:a="http://schemas.openxmlformats.org/drawingml/2006/main">
            <a:off x="3476625" y="19526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A plausible transcription can still be wrong</a:t>
            </a:r>
          </a:p>
        </p:txBody>
      </p:sp>
      <p:sp>
        <p:nvSpPr>
          <p:cNvPr id="4" name="">
            <a:extLst xmlns:a="http://schemas.openxmlformats.org/drawingml/2006/main">
              <a:ext uri="{FF2B5EF4-FFF2-40B4-BE49-F238E27FC236}">
                <a16:creationId xmlns:a16="http://schemas.microsoft.com/office/drawing/2014/main" id="{1548ACE5-CE4B-460F-86FC-C63FFEF3B455}"/>
              </a:ext>
            </a:extLst>
          </p:cNvPr>
          <p:cNvSpPr>
            <a:spLocks xmlns:a="http://schemas.openxmlformats.org/drawingml/2006/main" noGrp="1"/>
          </p:cNvSpPr>
          <p:nvPr/>
        </p:nvSpPr>
        <p:spPr>
          <a:xfrm xmlns:a="http://schemas.openxmlformats.org/drawingml/2006/main">
            <a:off x="609600" y="3190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LAB</a:t>
            </a:r>
          </a:p>
        </p:txBody>
      </p:sp>
      <p:sp>
        <p:nvSpPr>
          <p:cNvPr id="5" name="">
            <a:extLst xmlns:a="http://schemas.openxmlformats.org/drawingml/2006/main">
              <a:ext uri="{FF2B5EF4-FFF2-40B4-BE49-F238E27FC236}">
                <a16:creationId xmlns:a16="http://schemas.microsoft.com/office/drawing/2014/main" id="{6228A7F8-0EE7-408D-BE3F-CD464E782BAA}"/>
              </a:ext>
            </a:extLst>
          </p:cNvPr>
          <p:cNvSpPr>
            <a:spLocks xmlns:a="http://schemas.openxmlformats.org/drawingml/2006/main" noGrp="1"/>
          </p:cNvSpPr>
          <p:nvPr/>
        </p:nvSpPr>
        <p:spPr>
          <a:xfrm xmlns:a="http://schemas.openxmlformats.org/drawingml/2006/main">
            <a:off x="3476625" y="319087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A visible stage is stronger than a guess</a:t>
            </a:r>
          </a:p>
        </p:txBody>
      </p:sp>
      <p:sp>
        <p:nvSpPr>
          <p:cNvPr id="6" name="">
            <a:extLst xmlns:a="http://schemas.openxmlformats.org/drawingml/2006/main">
              <a:ext uri="{FF2B5EF4-FFF2-40B4-BE49-F238E27FC236}">
                <a16:creationId xmlns:a16="http://schemas.microsoft.com/office/drawing/2014/main" id="{F619EE50-75E2-4A02-BB78-11D35D47BC57}"/>
              </a:ext>
            </a:extLst>
          </p:cNvPr>
          <p:cNvSpPr>
            <a:spLocks xmlns:a="http://schemas.openxmlformats.org/drawingml/2006/main" noGrp="1"/>
          </p:cNvSpPr>
          <p:nvPr/>
        </p:nvSpPr>
        <p:spPr>
          <a:xfrm xmlns:a="http://schemas.openxmlformats.org/drawingml/2006/main">
            <a:off x="609600" y="44291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AFF45"/>
                </a:solidFill>
                <a:latin typeface="Helvetica Neue"/>
                <a:ea typeface="Helvetica Neue"/>
                <a:cs typeface="Helvetica Neue"/>
              </a:defRPr>
            </a:pPr>
            <a:r>
              <a:rPr sz="1875" b="1">
                <a:solidFill>
                  <a:srgbClr val="CAFF45"/>
                </a:solidFill>
                <a:latin typeface="Helvetica Neue"/>
                <a:ea typeface="Helvetica Neue"/>
                <a:cs typeface="Helvetica Neue"/>
              </a:rPr>
              <a:t>DEFENSE</a:t>
            </a:r>
          </a:p>
        </p:txBody>
      </p:sp>
      <p:sp>
        <p:nvSpPr>
          <p:cNvPr id="7" name="">
            <a:extLst xmlns:a="http://schemas.openxmlformats.org/drawingml/2006/main">
              <a:ext uri="{FF2B5EF4-FFF2-40B4-BE49-F238E27FC236}">
                <a16:creationId xmlns:a16="http://schemas.microsoft.com/office/drawing/2014/main" id="{54B7FB5F-EE5A-401F-AB2A-5CD618C51593}"/>
              </a:ext>
            </a:extLst>
          </p:cNvPr>
          <p:cNvSpPr>
            <a:spLocks xmlns:a="http://schemas.openxmlformats.org/drawingml/2006/main" noGrp="1"/>
          </p:cNvSpPr>
          <p:nvPr/>
        </p:nvSpPr>
        <p:spPr>
          <a:xfrm xmlns:a="http://schemas.openxmlformats.org/drawingml/2006/main">
            <a:off x="3476625" y="4429125"/>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0E6"/>
                </a:solidFill>
                <a:latin typeface="Helvetica Neue"/>
                <a:ea typeface="Helvetica Neue"/>
                <a:cs typeface="Helvetica Neue"/>
              </a:defRPr>
            </a:pPr>
            <a:r>
              <a:rPr sz="2475" b="0">
                <a:solidFill>
                  <a:srgbClr val="F0F0E6"/>
                </a:solidFill>
                <a:latin typeface="Helvetica Neue"/>
                <a:ea typeface="Helvetica Neue"/>
                <a:cs typeface="Helvetica Neue"/>
              </a:rPr>
              <a:t>Cleaning needs evidence of recovery</a:t>
            </a:r>
          </a:p>
        </p:txBody>
      </p:sp>
    </p:spTree>
    <p:extLst>
      <p:ext uri="{BB962C8B-B14F-4D97-AF65-F5344CB8AC3E}">
        <p14:creationId xmlns:p14="http://schemas.microsoft.com/office/powerpoint/2010/main" val="1953714677"/>
      </p:ext>
    </p:extLst>
  </p:cSld>
</p:sld>
</file>

<file path=ppt/slides/slide27.xml><?xml version="1.0" encoding="utf-8"?>
<p:sld xmlns:p="http://schemas.openxmlformats.org/presentationml/2006/main">
  <p:cSld>
    <p:bg>
      <p:bgPr>
        <a:solidFill xmlns:a="http://schemas.openxmlformats.org/drawingml/2006/main">
          <a:srgbClr val="1013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fb5cfc111ab44f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384D72-27EA-4135-A2B1-E20F8D207987}"/>
              </a:ext>
            </a:extLst>
          </p:cNvPr>
          <p:cNvSpPr>
            <a:spLocks xmlns:a="http://schemas.openxmlformats.org/drawingml/2006/main" noGrp="1"/>
          </p:cNvSpPr>
          <p:nvPr/>
        </p:nvSpPr>
        <p:spPr>
          <a:xfrm xmlns:a="http://schemas.openxmlformats.org/drawingml/2006/main">
            <a:off x="609600" y="4572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0F0E6"/>
                </a:solidFill>
                <a:latin typeface="Helvetica Neue"/>
                <a:ea typeface="Helvetica Neue"/>
                <a:cs typeface="Helvetica Neue"/>
              </a:defRPr>
            </a:pPr>
            <a:r>
              <a:rPr sz="3450" b="1">
                <a:solidFill>
                  <a:srgbClr val="F0F0E6"/>
                </a:solidFill>
                <a:latin typeface="Helvetica Neue"/>
                <a:ea typeface="Helvetica Neue"/>
                <a:cs typeface="Helvetica Neue"/>
              </a:rPr>
              <a:t>Rebuilt. Inspected. Detected. Cleaned.</a:t>
            </a:r>
          </a:p>
        </p:txBody>
      </p:sp>
      <p:sp>
        <p:nvSpPr>
          <p:cNvPr id="3" name="">
            <a:extLst xmlns:a="http://schemas.openxmlformats.org/drawingml/2006/main">
              <a:ext uri="{FF2B5EF4-FFF2-40B4-BE49-F238E27FC236}">
                <a16:creationId xmlns:a16="http://schemas.microsoft.com/office/drawing/2014/main" id="{AD7E3812-4396-445B-BB5C-954BD1BCB56B}"/>
              </a:ext>
            </a:extLst>
          </p:cNvPr>
          <p:cNvSpPr>
            <a:spLocks xmlns:a="http://schemas.openxmlformats.org/drawingml/2006/main" noGrp="1"/>
          </p:cNvSpPr>
          <p:nvPr/>
        </p:nvSpPr>
        <p:spPr>
          <a:xfrm xmlns:a="http://schemas.openxmlformats.org/drawingml/2006/main">
            <a:off x="609600" y="2171700"/>
            <a:ext cx="7239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AFF45"/>
                </a:solidFill>
                <a:latin typeface="Helvetica Neue"/>
                <a:ea typeface="Helvetica Neue"/>
                <a:cs typeface="Helvetica Neue"/>
              </a:defRPr>
            </a:pPr>
            <a:r>
              <a:rPr sz="4350" b="1">
                <a:solidFill>
                  <a:srgbClr val="CAFF45"/>
                </a:solidFill>
                <a:latin typeface="Helvetica Neue"/>
                <a:ea typeface="Helvetica Neue"/>
                <a:cs typeface="Helvetica Neue"/>
              </a:rPr>
              <a:t>Old code.</a:t>
            </a:r>
          </a:p>
          <a:p xmlns:a="http://schemas.openxmlformats.org/drawingml/2006/main">
            <a:pPr>
              <a:defRPr sz="4350" b="1">
                <a:solidFill>
                  <a:srgbClr val="CAFF45"/>
                </a:solidFill>
                <a:latin typeface="Helvetica Neue"/>
                <a:ea typeface="Helvetica Neue"/>
                <a:cs typeface="Helvetica Neue"/>
              </a:defRPr>
            </a:pPr>
            <a:r>
              <a:rPr sz="4350" b="1">
                <a:solidFill>
                  <a:srgbClr val="CAFF45"/>
                </a:solidFill>
                <a:latin typeface="Helvetica Neue"/>
                <a:ea typeface="Helvetica Neue"/>
                <a:cs typeface="Helvetica Neue"/>
              </a:rPr>
              <a:t>Very current questions.</a:t>
            </a:r>
          </a:p>
        </p:txBody>
      </p:sp>
      <p:sp>
        <p:nvSpPr>
          <p:cNvPr id="4" name="">
            <a:extLst xmlns:a="http://schemas.openxmlformats.org/drawingml/2006/main">
              <a:ext uri="{FF2B5EF4-FFF2-40B4-BE49-F238E27FC236}">
                <a16:creationId xmlns:a16="http://schemas.microsoft.com/office/drawing/2014/main" id="{7171D80E-B7C4-49B0-B281-A16B45B36F6C}"/>
              </a:ext>
            </a:extLst>
          </p:cNvPr>
          <p:cNvSpPr>
            <a:spLocks xmlns:a="http://schemas.openxmlformats.org/drawingml/2006/main" noGrp="1"/>
          </p:cNvSpPr>
          <p:nvPr/>
        </p:nvSpPr>
        <p:spPr>
          <a:xfrm xmlns:a="http://schemas.openxmlformats.org/drawingml/2006/main">
            <a:off x="647700" y="5048250"/>
            <a:ext cx="666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F0E6"/>
                </a:solidFill>
                <a:latin typeface="Helvetica Neue"/>
                <a:ea typeface="Helvetica Neue"/>
                <a:cs typeface="Helvetica Neue"/>
              </a:defRPr>
            </a:pPr>
            <a:r>
              <a:rPr sz="2025" b="0">
                <a:solidFill>
                  <a:srgbClr val="F0F0E6"/>
                </a:solidFill>
                <a:latin typeface="Helvetica Neue"/>
                <a:ea typeface="Helvetica Neue"/>
                <a:cs typeface="Helvetica Neue"/>
              </a:rPr>
              <a:t>Charley Pfaff</a:t>
            </a:r>
          </a:p>
          <a:p xmlns:a="http://schemas.openxmlformats.org/drawingml/2006/main">
            <a:pPr>
              <a:defRPr sz="2025" b="0">
                <a:solidFill>
                  <a:srgbClr val="F0F0E6"/>
                </a:solidFill>
                <a:latin typeface="Helvetica Neue"/>
                <a:ea typeface="Helvetica Neue"/>
                <a:cs typeface="Helvetica Neue"/>
              </a:defRPr>
            </a:pPr>
            <a:r>
              <a:rPr sz="2025" b="0">
                <a:solidFill>
                  <a:srgbClr val="F0F0E6"/>
                </a:solidFill>
                <a:latin typeface="Helvetica Neue"/>
                <a:ea typeface="Helvetica Neue"/>
                <a:cs typeface="Helvetica Neue"/>
              </a:rPr>
              <a:t>Questions</a:t>
            </a:r>
          </a:p>
        </p:txBody>
      </p:sp>
    </p:spTree>
    <p:extLst>
      <p:ext uri="{BB962C8B-B14F-4D97-AF65-F5344CB8AC3E}">
        <p14:creationId xmlns:p14="http://schemas.microsoft.com/office/powerpoint/2010/main" val="11048437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2026-09-21T16:18:25.5980000Z</dcterms:created>
  <dcterms:modified xsi:type="dcterms:W3CDTF">2026-09-21T16:18:25.5980000Z</dcterms:modified>
</coreProperties>
</file>